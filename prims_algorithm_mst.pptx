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d961078-b16f-87ce-ad03-0c84d0d0bbd7}">
          <p14:sldIdLst>
            <p14:sldId id="256"/>
            <p14:sldId id="257"/>
          </p14:sldIdLst>
        </p14:section>
        <p14:section name="Idea" id="{0c190c16-63a5-fe95-2783-e1c0dbbfbf14}">
          <p14:sldIdLst>
            <p14:sldId id="258"/>
          </p14:sldIdLst>
        </p14:section>
        <p14:section name="Example" id="{0a36b72f-fee9-0431-5c8b-c1202b06c439}">
          <p14:sldIdLst>
            <p14:sldId id="259"/>
            <p14:sldId id="260"/>
            <p14:sldId id="261"/>
          </p14:sldIdLst>
        </p14:section>
        <p14:section name="Implementation" id="{f74956ae-c22f-82ce-7365-e1b26ff428d8}">
          <p14:sldIdLst>
            <p14:sldId id="262"/>
          </p14:sldIdLst>
        </p14:section>
        <p14:section name="Analysis" id="{c2d6def6-6c8c-8e50-7fc1-fcf0986347ea}">
          <p14:sldIdLst>
            <p14:sldId id="263"/>
            <p14:sldId id="264"/>
          </p14:sldIdLst>
        </p14:section>
        <p14:section name="Wrap-up" id="{51199365-bee0-eb14-3cd1-f093369596f0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Hello! Today we learn Prim's algorithm, a classic greedy way to build a Minimum Spanning Tree. The green edges on the right are the answer we will derive step by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a connected, weighted, undirected graph. A spanning tree links all V vertices using exactly V minus one edges and has no cycles. Many spanning trees exist; the blue one costs 23. The minimum spanning tree is the cheapest of them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Prim's idea is greedy. Start anywhere, then keep adding the cheapest edge that connects the tree to a new vertex. The cut property guarantees this never goes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at A. The edges leaving the tree are A to B with weight 4 and A to C with weight 2, so we add A to C. Next, the cheapest crossing edge is C to B with weight 1. Adding B means A to B would form a cycle, so it is skipped. Then B to D with weight 5 is cheapest.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four adds D to E with weight 2. Step five adds E to F with weight 3. All six vertices are connected using five edges, and the minimum total weight is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shows the tree, the crossing edges, the cheapest one we pick, and the running total. The total after five steps is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code, each vertex keeps a key: the cheapest edge linking it to the tree. Extract the vertex with the minimum key, then update its neighbours.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an adjacency matrix and a plain array, Prim runs in O of V squared. With an adjacency list and a binary heap it is O of E log V. A Fibonacci heap improves this to O of E plus V log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are greedy and both produce a minimum spanning tree. Prim grows a single tree from a start vertex, while Kruskal sorts the edges and merges components.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 grows one tree greedily. The cut property guarantees the result is a minimum spanning tree. Thanks for watching! This deck was created with Claude, an AI assistant by Anthropic.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54864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977640"/>
            <a:ext cx="5486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Prim's Algorithm  ·  Minimum Spanning Tree  ·  DAA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2"/>
                </a:solidFill>
              </a:rPr>
              <a:t>Prim's Algorithm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9776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Minimum Spanning Tree (MST)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Design &amp; Analysis of Algorithms (DAA)</a:t>
            </a:r>
            <a:endParaRPr lang="en-US" sz="2000" dirty="0"/>
          </a:p>
        </p:txBody>
      </p:sp>
      <p:sp>
        <p:nvSpPr>
          <p:cNvPr id="4" name="Edge A-B"/>
          <p:cNvSpPr/>
          <p:nvPr/>
        </p:nvSpPr>
        <p:spPr>
          <a:xfrm flipV="1">
            <a:off x="6492240" y="2240280"/>
            <a:ext cx="1645920" cy="118872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5" name="Edge A-C"/>
          <p:cNvSpPr/>
          <p:nvPr/>
        </p:nvSpPr>
        <p:spPr>
          <a:xfrm>
            <a:off x="6492240" y="3429000"/>
            <a:ext cx="1645920" cy="1188720"/>
          </a:xfrm>
          <a:prstGeom prst="line">
            <a:avLst/>
          </a:prstGeom>
          <a:noFill/>
          <a:ln w="63500">
            <a:solidFill>
              <a:schemeClr val="accent1"/>
            </a:solidFill>
            <a:prstDash val="solid"/>
          </a:ln>
        </p:spPr>
      </p:sp>
      <p:sp>
        <p:nvSpPr>
          <p:cNvPr id="6" name="Edge B-C"/>
          <p:cNvSpPr/>
          <p:nvPr/>
        </p:nvSpPr>
        <p:spPr>
          <a:xfrm>
            <a:off x="8138160" y="2240280"/>
            <a:ext cx="0" cy="2377440"/>
          </a:xfrm>
          <a:prstGeom prst="line">
            <a:avLst/>
          </a:prstGeom>
          <a:noFill/>
          <a:ln w="63500">
            <a:solidFill>
              <a:schemeClr val="accent1"/>
            </a:solidFill>
            <a:prstDash val="solid"/>
          </a:ln>
        </p:spPr>
      </p:sp>
      <p:sp>
        <p:nvSpPr>
          <p:cNvPr id="7" name="Edge B-D"/>
          <p:cNvSpPr/>
          <p:nvPr/>
        </p:nvSpPr>
        <p:spPr>
          <a:xfrm>
            <a:off x="8138160" y="2240280"/>
            <a:ext cx="1645920" cy="0"/>
          </a:xfrm>
          <a:prstGeom prst="line">
            <a:avLst/>
          </a:prstGeom>
          <a:noFill/>
          <a:ln w="63500">
            <a:solidFill>
              <a:schemeClr val="accent1"/>
            </a:solidFill>
            <a:prstDash val="solid"/>
          </a:ln>
        </p:spPr>
      </p:sp>
      <p:sp>
        <p:nvSpPr>
          <p:cNvPr id="8" name="Edge C-D"/>
          <p:cNvSpPr/>
          <p:nvPr/>
        </p:nvSpPr>
        <p:spPr>
          <a:xfrm flipV="1">
            <a:off x="8138160" y="2240280"/>
            <a:ext cx="1645920" cy="23774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9" name="Edge C-E"/>
          <p:cNvSpPr/>
          <p:nvPr/>
        </p:nvSpPr>
        <p:spPr>
          <a:xfrm>
            <a:off x="8138160" y="4617720"/>
            <a:ext cx="16459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0" name="Edge D-E"/>
          <p:cNvSpPr/>
          <p:nvPr/>
        </p:nvSpPr>
        <p:spPr>
          <a:xfrm>
            <a:off x="9784080" y="2240280"/>
            <a:ext cx="0" cy="2377440"/>
          </a:xfrm>
          <a:prstGeom prst="line">
            <a:avLst/>
          </a:prstGeom>
          <a:noFill/>
          <a:ln w="63500">
            <a:solidFill>
              <a:schemeClr val="accent1"/>
            </a:solidFill>
            <a:prstDash val="solid"/>
          </a:ln>
        </p:spPr>
      </p:sp>
      <p:sp>
        <p:nvSpPr>
          <p:cNvPr id="11" name="Edge D-F"/>
          <p:cNvSpPr/>
          <p:nvPr/>
        </p:nvSpPr>
        <p:spPr>
          <a:xfrm>
            <a:off x="9784080" y="2240280"/>
            <a:ext cx="1645920" cy="118872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2" name="Edge E-F"/>
          <p:cNvSpPr/>
          <p:nvPr/>
        </p:nvSpPr>
        <p:spPr>
          <a:xfrm flipV="1">
            <a:off x="9784080" y="3429000"/>
            <a:ext cx="1645920" cy="1188720"/>
          </a:xfrm>
          <a:prstGeom prst="line">
            <a:avLst/>
          </a:prstGeom>
          <a:noFill/>
          <a:ln w="63500">
            <a:solidFill>
              <a:schemeClr val="accent1"/>
            </a:solidFill>
            <a:prstDash val="solid"/>
          </a:ln>
        </p:spPr>
      </p:sp>
      <p:sp>
        <p:nvSpPr>
          <p:cNvPr id="13" name="Weight A-B"/>
          <p:cNvSpPr txBox="1"/>
          <p:nvPr/>
        </p:nvSpPr>
        <p:spPr>
          <a:xfrm>
            <a:off x="7114032" y="2697480"/>
            <a:ext cx="402336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Weight A-C"/>
          <p:cNvSpPr txBox="1"/>
          <p:nvPr/>
        </p:nvSpPr>
        <p:spPr>
          <a:xfrm>
            <a:off x="7114032" y="3886200"/>
            <a:ext cx="402336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Weight B-C"/>
          <p:cNvSpPr txBox="1"/>
          <p:nvPr/>
        </p:nvSpPr>
        <p:spPr>
          <a:xfrm>
            <a:off x="7936992" y="3291840"/>
            <a:ext cx="402336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Weight B-D"/>
          <p:cNvSpPr txBox="1"/>
          <p:nvPr/>
        </p:nvSpPr>
        <p:spPr>
          <a:xfrm>
            <a:off x="8759952" y="2103120"/>
            <a:ext cx="402336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Weight C-D"/>
          <p:cNvSpPr txBox="1"/>
          <p:nvPr/>
        </p:nvSpPr>
        <p:spPr>
          <a:xfrm>
            <a:off x="8759952" y="3291840"/>
            <a:ext cx="402336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8</a:t>
            </a:r>
            <a:endParaRPr lang="en-US" sz="1200" dirty="0"/>
          </a:p>
        </p:txBody>
      </p:sp>
      <p:sp>
        <p:nvSpPr>
          <p:cNvPr id="18" name="Weight C-E"/>
          <p:cNvSpPr txBox="1"/>
          <p:nvPr/>
        </p:nvSpPr>
        <p:spPr>
          <a:xfrm>
            <a:off x="8759952" y="4480560"/>
            <a:ext cx="402336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10</a:t>
            </a:r>
            <a:endParaRPr lang="en-US" sz="1200" dirty="0"/>
          </a:p>
        </p:txBody>
      </p:sp>
      <p:sp>
        <p:nvSpPr>
          <p:cNvPr id="19" name="Weight D-E"/>
          <p:cNvSpPr txBox="1"/>
          <p:nvPr/>
        </p:nvSpPr>
        <p:spPr>
          <a:xfrm>
            <a:off x="9582912" y="3291840"/>
            <a:ext cx="402336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Weight D-F"/>
          <p:cNvSpPr txBox="1"/>
          <p:nvPr/>
        </p:nvSpPr>
        <p:spPr>
          <a:xfrm>
            <a:off x="10405872" y="2697480"/>
            <a:ext cx="402336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6</a:t>
            </a:r>
            <a:endParaRPr lang="en-US" sz="1200" dirty="0"/>
          </a:p>
        </p:txBody>
      </p:sp>
      <p:sp>
        <p:nvSpPr>
          <p:cNvPr id="21" name="Weight E-F"/>
          <p:cNvSpPr txBox="1"/>
          <p:nvPr/>
        </p:nvSpPr>
        <p:spPr>
          <a:xfrm>
            <a:off x="10405872" y="3886200"/>
            <a:ext cx="402336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Node A"/>
          <p:cNvSpPr txBox="1"/>
          <p:nvPr/>
        </p:nvSpPr>
        <p:spPr>
          <a:xfrm>
            <a:off x="6217920" y="3154680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endParaRPr lang="en-US" sz="1800" dirty="0"/>
          </a:p>
        </p:txBody>
      </p:sp>
      <p:sp>
        <p:nvSpPr>
          <p:cNvPr id="23" name="Node B"/>
          <p:cNvSpPr txBox="1"/>
          <p:nvPr/>
        </p:nvSpPr>
        <p:spPr>
          <a:xfrm>
            <a:off x="7863840" y="1965960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endParaRPr lang="en-US" sz="1800" dirty="0"/>
          </a:p>
        </p:txBody>
      </p:sp>
      <p:sp>
        <p:nvSpPr>
          <p:cNvPr id="24" name="Node C"/>
          <p:cNvSpPr txBox="1"/>
          <p:nvPr/>
        </p:nvSpPr>
        <p:spPr>
          <a:xfrm>
            <a:off x="7863840" y="4343400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</a:t>
            </a:r>
            <a:endParaRPr lang="en-US" sz="1800" dirty="0"/>
          </a:p>
        </p:txBody>
      </p:sp>
      <p:sp>
        <p:nvSpPr>
          <p:cNvPr id="25" name="Node D"/>
          <p:cNvSpPr txBox="1"/>
          <p:nvPr/>
        </p:nvSpPr>
        <p:spPr>
          <a:xfrm>
            <a:off x="9509760" y="1965960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</a:t>
            </a:r>
            <a:endParaRPr lang="en-US" sz="1800" dirty="0"/>
          </a:p>
        </p:txBody>
      </p:sp>
      <p:sp>
        <p:nvSpPr>
          <p:cNvPr id="26" name="Node E"/>
          <p:cNvSpPr txBox="1"/>
          <p:nvPr/>
        </p:nvSpPr>
        <p:spPr>
          <a:xfrm>
            <a:off x="9509760" y="4343400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</a:t>
            </a:r>
            <a:endParaRPr lang="en-US" sz="1800" dirty="0"/>
          </a:p>
        </p:txBody>
      </p:sp>
      <p:sp>
        <p:nvSpPr>
          <p:cNvPr id="27" name="Node F"/>
          <p:cNvSpPr txBox="1"/>
          <p:nvPr/>
        </p:nvSpPr>
        <p:spPr>
          <a:xfrm>
            <a:off x="11155680" y="3154680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is a minimum spanning tree?</a:t>
            </a:r>
            <a:endParaRPr lang="en-US" sz="3600" dirty="0"/>
          </a:p>
        </p:txBody>
      </p:sp>
      <p:sp>
        <p:nvSpPr>
          <p:cNvPr id="4" name="Graph panel"/>
          <p:cNvSpPr/>
          <p:nvPr/>
        </p:nvSpPr>
        <p:spPr>
          <a:xfrm>
            <a:off x="548640" y="1508760"/>
            <a:ext cx="6035040" cy="452628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Edge A-B"/>
          <p:cNvSpPr/>
          <p:nvPr/>
        </p:nvSpPr>
        <p:spPr>
          <a:xfrm flipV="1">
            <a:off x="1234440" y="2423160"/>
            <a:ext cx="1554480" cy="1143000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6" name="Edge A-C"/>
          <p:cNvSpPr/>
          <p:nvPr/>
        </p:nvSpPr>
        <p:spPr>
          <a:xfrm>
            <a:off x="1234440" y="3566160"/>
            <a:ext cx="1554480" cy="11430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7" name="Edge B-C"/>
          <p:cNvSpPr/>
          <p:nvPr/>
        </p:nvSpPr>
        <p:spPr>
          <a:xfrm>
            <a:off x="2788920" y="2423160"/>
            <a:ext cx="0" cy="2286000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8" name="Edge B-D"/>
          <p:cNvSpPr/>
          <p:nvPr/>
        </p:nvSpPr>
        <p:spPr>
          <a:xfrm>
            <a:off x="2788920" y="2423160"/>
            <a:ext cx="1554480" cy="0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9" name="Edge C-D"/>
          <p:cNvSpPr/>
          <p:nvPr/>
        </p:nvSpPr>
        <p:spPr>
          <a:xfrm flipV="1">
            <a:off x="2788920" y="2423160"/>
            <a:ext cx="1554480" cy="22860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0" name="Edge C-E"/>
          <p:cNvSpPr/>
          <p:nvPr/>
        </p:nvSpPr>
        <p:spPr>
          <a:xfrm>
            <a:off x="2788920" y="4709160"/>
            <a:ext cx="1554480" cy="0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11" name="Edge D-E"/>
          <p:cNvSpPr/>
          <p:nvPr/>
        </p:nvSpPr>
        <p:spPr>
          <a:xfrm>
            <a:off x="4343400" y="2423160"/>
            <a:ext cx="0" cy="22860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2" name="Edge D-F"/>
          <p:cNvSpPr/>
          <p:nvPr/>
        </p:nvSpPr>
        <p:spPr>
          <a:xfrm>
            <a:off x="4343400" y="2423160"/>
            <a:ext cx="1554480" cy="11430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3" name="Edge E-F"/>
          <p:cNvSpPr/>
          <p:nvPr/>
        </p:nvSpPr>
        <p:spPr>
          <a:xfrm flipV="1">
            <a:off x="4343400" y="3566160"/>
            <a:ext cx="1554480" cy="1143000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14" name="Weight A-B"/>
          <p:cNvSpPr txBox="1"/>
          <p:nvPr/>
        </p:nvSpPr>
        <p:spPr>
          <a:xfrm>
            <a:off x="1810512" y="2857500"/>
            <a:ext cx="402336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Weight A-C"/>
          <p:cNvSpPr txBox="1"/>
          <p:nvPr/>
        </p:nvSpPr>
        <p:spPr>
          <a:xfrm>
            <a:off x="1810512" y="4000500"/>
            <a:ext cx="402336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Weight B-C"/>
          <p:cNvSpPr txBox="1"/>
          <p:nvPr/>
        </p:nvSpPr>
        <p:spPr>
          <a:xfrm>
            <a:off x="2587752" y="3429000"/>
            <a:ext cx="402336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1</a:t>
            </a:r>
            <a:endParaRPr lang="en-US" sz="1200" dirty="0"/>
          </a:p>
        </p:txBody>
      </p:sp>
      <p:sp>
        <p:nvSpPr>
          <p:cNvPr id="17" name="Weight B-D"/>
          <p:cNvSpPr txBox="1"/>
          <p:nvPr/>
        </p:nvSpPr>
        <p:spPr>
          <a:xfrm>
            <a:off x="3364992" y="2286000"/>
            <a:ext cx="402336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Weight C-D"/>
          <p:cNvSpPr txBox="1"/>
          <p:nvPr/>
        </p:nvSpPr>
        <p:spPr>
          <a:xfrm>
            <a:off x="3364992" y="3429000"/>
            <a:ext cx="402336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8</a:t>
            </a:r>
            <a:endParaRPr lang="en-US" sz="1200" dirty="0"/>
          </a:p>
        </p:txBody>
      </p:sp>
      <p:sp>
        <p:nvSpPr>
          <p:cNvPr id="19" name="Weight C-E"/>
          <p:cNvSpPr txBox="1"/>
          <p:nvPr/>
        </p:nvSpPr>
        <p:spPr>
          <a:xfrm>
            <a:off x="3364992" y="4572000"/>
            <a:ext cx="402336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10</a:t>
            </a:r>
            <a:endParaRPr lang="en-US" sz="1200" dirty="0"/>
          </a:p>
        </p:txBody>
      </p:sp>
      <p:sp>
        <p:nvSpPr>
          <p:cNvPr id="20" name="Weight D-E"/>
          <p:cNvSpPr txBox="1"/>
          <p:nvPr/>
        </p:nvSpPr>
        <p:spPr>
          <a:xfrm>
            <a:off x="4142232" y="3429000"/>
            <a:ext cx="402336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2</a:t>
            </a:r>
            <a:endParaRPr lang="en-US" sz="1200" dirty="0"/>
          </a:p>
        </p:txBody>
      </p:sp>
      <p:sp>
        <p:nvSpPr>
          <p:cNvPr id="21" name="Weight D-F"/>
          <p:cNvSpPr txBox="1"/>
          <p:nvPr/>
        </p:nvSpPr>
        <p:spPr>
          <a:xfrm>
            <a:off x="4919472" y="2857500"/>
            <a:ext cx="402336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Weight E-F"/>
          <p:cNvSpPr txBox="1"/>
          <p:nvPr/>
        </p:nvSpPr>
        <p:spPr>
          <a:xfrm>
            <a:off x="4919472" y="4000500"/>
            <a:ext cx="402336" cy="27432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Node A"/>
          <p:cNvSpPr txBox="1"/>
          <p:nvPr/>
        </p:nvSpPr>
        <p:spPr>
          <a:xfrm>
            <a:off x="960120" y="3291840"/>
            <a:ext cx="548640" cy="54864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A</a:t>
            </a:r>
            <a:endParaRPr lang="en-US" sz="1800" dirty="0"/>
          </a:p>
        </p:txBody>
      </p:sp>
      <p:sp>
        <p:nvSpPr>
          <p:cNvPr id="24" name="Node B"/>
          <p:cNvSpPr txBox="1"/>
          <p:nvPr/>
        </p:nvSpPr>
        <p:spPr>
          <a:xfrm>
            <a:off x="2514600" y="2148840"/>
            <a:ext cx="548640" cy="54864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B</a:t>
            </a:r>
            <a:endParaRPr lang="en-US" sz="1800" dirty="0"/>
          </a:p>
        </p:txBody>
      </p:sp>
      <p:sp>
        <p:nvSpPr>
          <p:cNvPr id="25" name="Node C"/>
          <p:cNvSpPr txBox="1"/>
          <p:nvPr/>
        </p:nvSpPr>
        <p:spPr>
          <a:xfrm>
            <a:off x="2514600" y="4434840"/>
            <a:ext cx="548640" cy="54864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C</a:t>
            </a:r>
            <a:endParaRPr lang="en-US" sz="1800" dirty="0"/>
          </a:p>
        </p:txBody>
      </p:sp>
      <p:sp>
        <p:nvSpPr>
          <p:cNvPr id="26" name="Node D"/>
          <p:cNvSpPr txBox="1"/>
          <p:nvPr/>
        </p:nvSpPr>
        <p:spPr>
          <a:xfrm>
            <a:off x="4069080" y="2148840"/>
            <a:ext cx="548640" cy="54864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D</a:t>
            </a:r>
            <a:endParaRPr lang="en-US" sz="1800" dirty="0"/>
          </a:p>
        </p:txBody>
      </p:sp>
      <p:sp>
        <p:nvSpPr>
          <p:cNvPr id="27" name="Node E"/>
          <p:cNvSpPr txBox="1"/>
          <p:nvPr/>
        </p:nvSpPr>
        <p:spPr>
          <a:xfrm>
            <a:off x="4069080" y="4434840"/>
            <a:ext cx="548640" cy="54864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E</a:t>
            </a:r>
            <a:endParaRPr lang="en-US" sz="1800" dirty="0"/>
          </a:p>
        </p:txBody>
      </p:sp>
      <p:sp>
        <p:nvSpPr>
          <p:cNvPr id="28" name="Node F"/>
          <p:cNvSpPr txBox="1"/>
          <p:nvPr/>
        </p:nvSpPr>
        <p:spPr>
          <a:xfrm>
            <a:off x="5623560" y="3291840"/>
            <a:ext cx="548640" cy="54864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F</a:t>
            </a:r>
            <a:endParaRPr lang="en-US" sz="1800" dirty="0"/>
          </a:p>
        </p:txBody>
      </p:sp>
      <p:sp>
        <p:nvSpPr>
          <p:cNvPr id="29" name="Graph caption"/>
          <p:cNvSpPr txBox="1"/>
          <p:nvPr/>
        </p:nvSpPr>
        <p:spPr>
          <a:xfrm>
            <a:off x="822960" y="5532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Blue: one possible spanning tree (total weight 23)</a:t>
            </a:r>
            <a:endParaRPr lang="en-US" sz="1200" dirty="0"/>
          </a:p>
        </p:txBody>
      </p:sp>
      <p:sp>
        <p:nvSpPr>
          <p:cNvPr id="30" name="Card 1"/>
          <p:cNvSpPr/>
          <p:nvPr/>
        </p:nvSpPr>
        <p:spPr>
          <a:xfrm>
            <a:off x="6858000" y="1508760"/>
            <a:ext cx="480060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1" name="Icon Spanning tree circle"/>
          <p:cNvSpPr/>
          <p:nvPr/>
        </p:nvSpPr>
        <p:spPr>
          <a:xfrm>
            <a:off x="7086600" y="187452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2" name="Icon Spanning tree" descr="Icon Spanning tr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7077" y="2034997"/>
            <a:ext cx="273406" cy="273406"/>
          </a:xfrm>
          <a:prstGeom prst="rect">
            <a:avLst/>
          </a:prstGeom>
        </p:spPr>
      </p:pic>
      <p:sp>
        <p:nvSpPr>
          <p:cNvPr id="33" name="Card 1 text"/>
          <p:cNvSpPr txBox="1"/>
          <p:nvPr/>
        </p:nvSpPr>
        <p:spPr>
          <a:xfrm>
            <a:off x="7863840" y="16459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Spanning tree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Connects all V vertices of the graph</a:t>
            </a:r>
            <a:endParaRPr lang="en-US" sz="2000" dirty="0"/>
          </a:p>
        </p:txBody>
      </p:sp>
      <p:sp>
        <p:nvSpPr>
          <p:cNvPr id="34" name="Card 2"/>
          <p:cNvSpPr/>
          <p:nvPr/>
        </p:nvSpPr>
        <p:spPr>
          <a:xfrm>
            <a:off x="6858000" y="3108960"/>
            <a:ext cx="480060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Icon V − 1 edges, no cycles circle"/>
          <p:cNvSpPr/>
          <p:nvPr/>
        </p:nvSpPr>
        <p:spPr>
          <a:xfrm>
            <a:off x="7086600" y="34747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con V − 1 edges, no cycles" descr="Icon V − 1 edges, no cyc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7077" y="3635197"/>
            <a:ext cx="273406" cy="273406"/>
          </a:xfrm>
          <a:prstGeom prst="rect">
            <a:avLst/>
          </a:prstGeom>
        </p:spPr>
      </p:pic>
      <p:sp>
        <p:nvSpPr>
          <p:cNvPr id="37" name="Card 2 text"/>
          <p:cNvSpPr txBox="1"/>
          <p:nvPr/>
        </p:nvSpPr>
        <p:spPr>
          <a:xfrm>
            <a:off x="7863840" y="32461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V − 1 edges, no cycles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Here V = 6, so every spanning tree has exactly 5 edges</a:t>
            </a:r>
            <a:endParaRPr lang="en-US" sz="2000" dirty="0"/>
          </a:p>
        </p:txBody>
      </p:sp>
      <p:sp>
        <p:nvSpPr>
          <p:cNvPr id="38" name="Card 3"/>
          <p:cNvSpPr/>
          <p:nvPr/>
        </p:nvSpPr>
        <p:spPr>
          <a:xfrm>
            <a:off x="6858000" y="4709160"/>
            <a:ext cx="480060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9" name="Icon Minimum spanning tree circle"/>
          <p:cNvSpPr/>
          <p:nvPr/>
        </p:nvSpPr>
        <p:spPr>
          <a:xfrm>
            <a:off x="7086600" y="50749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0" name="Icon Minimum spanning tree" descr="Icon Minimum spanning tr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077" y="5235397"/>
            <a:ext cx="273406" cy="273406"/>
          </a:xfrm>
          <a:prstGeom prst="rect">
            <a:avLst/>
          </a:prstGeom>
        </p:spPr>
      </p:pic>
      <p:sp>
        <p:nvSpPr>
          <p:cNvPr id="41" name="Card 3 text"/>
          <p:cNvSpPr txBox="1"/>
          <p:nvPr/>
        </p:nvSpPr>
        <p:spPr>
          <a:xfrm>
            <a:off x="7863840" y="48463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Minimum spanning tree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The spanning tree with the smallest total weight (here: 13)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greedy idea</a:t>
            </a:r>
            <a:endParaRPr lang="en-US" sz="3600" dirty="0"/>
          </a:p>
        </p:txBody>
      </p:sp>
      <p:sp>
        <p:nvSpPr>
          <p:cNvPr id="4" name="Step card 1"/>
          <p:cNvSpPr/>
          <p:nvPr/>
        </p:nvSpPr>
        <p:spPr>
          <a:xfrm>
            <a:off x="548640" y="150876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tep text 1"/>
          <p:cNvSpPr txBox="1"/>
          <p:nvPr/>
        </p:nvSpPr>
        <p:spPr>
          <a:xfrm>
            <a:off x="777240" y="2423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bg2"/>
                </a:solidFill>
              </a:rPr>
              <a:t>Start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Pick any vertex as the first vertex of the tree</a:t>
            </a:r>
            <a:endParaRPr lang="en-US" sz="2200" dirty="0"/>
          </a:p>
        </p:txBody>
      </p:sp>
      <p:sp>
        <p:nvSpPr>
          <p:cNvPr id="7" name="Step card 2"/>
          <p:cNvSpPr/>
          <p:nvPr/>
        </p:nvSpPr>
        <p:spPr>
          <a:xfrm>
            <a:off x="3364992" y="150876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Step number 2"/>
          <p:cNvSpPr txBox="1"/>
          <p:nvPr/>
        </p:nvSpPr>
        <p:spPr>
          <a:xfrm>
            <a:off x="3593592" y="173736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Step text 2"/>
          <p:cNvSpPr txBox="1"/>
          <p:nvPr/>
        </p:nvSpPr>
        <p:spPr>
          <a:xfrm>
            <a:off x="3593592" y="2423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bg2"/>
                </a:solidFill>
              </a:rPr>
              <a:t>Look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Find every edge that leaves the tree</a:t>
            </a:r>
            <a:endParaRPr lang="en-US" sz="2200" dirty="0"/>
          </a:p>
        </p:txBody>
      </p:sp>
      <p:sp>
        <p:nvSpPr>
          <p:cNvPr id="10" name="Step card 3"/>
          <p:cNvSpPr/>
          <p:nvPr/>
        </p:nvSpPr>
        <p:spPr>
          <a:xfrm>
            <a:off x="6181344" y="150876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Step number 3"/>
          <p:cNvSpPr txBox="1"/>
          <p:nvPr/>
        </p:nvSpPr>
        <p:spPr>
          <a:xfrm>
            <a:off x="6409944" y="1737360"/>
            <a:ext cx="548640" cy="54864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Step text 3"/>
          <p:cNvSpPr txBox="1"/>
          <p:nvPr/>
        </p:nvSpPr>
        <p:spPr>
          <a:xfrm>
            <a:off x="6409944" y="2423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bg2"/>
                </a:solidFill>
              </a:rPr>
              <a:t>Choose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Take the cheapest one and add its new vertex</a:t>
            </a:r>
            <a:endParaRPr lang="en-US" sz="2200" dirty="0"/>
          </a:p>
        </p:txBody>
      </p:sp>
      <p:sp>
        <p:nvSpPr>
          <p:cNvPr id="13" name="Step card 4"/>
          <p:cNvSpPr/>
          <p:nvPr/>
        </p:nvSpPr>
        <p:spPr>
          <a:xfrm>
            <a:off x="8997696" y="150876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Step number 4"/>
          <p:cNvSpPr txBox="1"/>
          <p:nvPr/>
        </p:nvSpPr>
        <p:spPr>
          <a:xfrm>
            <a:off x="9226296" y="173736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Step text 4"/>
          <p:cNvSpPr txBox="1"/>
          <p:nvPr/>
        </p:nvSpPr>
        <p:spPr>
          <a:xfrm>
            <a:off x="9226296" y="2423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bg2"/>
                </a:solidFill>
              </a:rPr>
              <a:t>Repeat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Stop when all V vertices are in the tree</a:t>
            </a:r>
            <a:endParaRPr lang="en-US" sz="2200" dirty="0"/>
          </a:p>
        </p:txBody>
      </p:sp>
      <p:sp>
        <p:nvSpPr>
          <p:cNvPr id="16" name="Cut property panel"/>
          <p:cNvSpPr/>
          <p:nvPr/>
        </p:nvSpPr>
        <p:spPr>
          <a:xfrm>
            <a:off x="548640" y="4023360"/>
            <a:ext cx="1110996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Icon cut circle"/>
          <p:cNvSpPr/>
          <p:nvPr/>
        </p:nvSpPr>
        <p:spPr>
          <a:xfrm>
            <a:off x="868680" y="47091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con cut" descr="Icon c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02" y="4881982"/>
            <a:ext cx="294437" cy="294437"/>
          </a:xfrm>
          <a:prstGeom prst="rect">
            <a:avLst/>
          </a:prstGeom>
        </p:spPr>
      </p:pic>
      <p:sp>
        <p:nvSpPr>
          <p:cNvPr id="19" name="Cut property text"/>
          <p:cNvSpPr txBox="1"/>
          <p:nvPr/>
        </p:nvSpPr>
        <p:spPr>
          <a:xfrm>
            <a:off x="1783080" y="41605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accent2"/>
                </a:solidFill>
              </a:rPr>
              <a:t>Why it works: the cut property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Split the vertices into two groups. The lightest edge crossing the split is safe: it belongs to some minimum spanning tree. Each Prim step picks exactly that edge for the split (tree | everything else).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Worked example: steps 1 to 3</a:t>
            </a:r>
            <a:endParaRPr lang="en-US" sz="3600" dirty="0"/>
          </a:p>
        </p:txBody>
      </p:sp>
      <p:sp>
        <p:nvSpPr>
          <p:cNvPr id="4" name="Step 1 card"/>
          <p:cNvSpPr/>
          <p:nvPr/>
        </p:nvSpPr>
        <p:spPr>
          <a:xfrm>
            <a:off x="548640" y="1463040"/>
            <a:ext cx="3520440" cy="46634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tep 1 header"/>
          <p:cNvSpPr txBox="1"/>
          <p:nvPr/>
        </p:nvSpPr>
        <p:spPr>
          <a:xfrm>
            <a:off x="731520" y="157276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Step 1: add A–C (2)</a:t>
            </a:r>
            <a:endParaRPr lang="en-US" sz="1800" dirty="0"/>
          </a:p>
        </p:txBody>
      </p:sp>
      <p:sp>
        <p:nvSpPr>
          <p:cNvPr id="6" name="Edge A-B"/>
          <p:cNvSpPr/>
          <p:nvPr/>
        </p:nvSpPr>
        <p:spPr>
          <a:xfrm flipV="1">
            <a:off x="937260" y="2423160"/>
            <a:ext cx="914400" cy="86868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7" name="Edge A-C"/>
          <p:cNvSpPr/>
          <p:nvPr/>
        </p:nvSpPr>
        <p:spPr>
          <a:xfrm>
            <a:off x="937260" y="3291840"/>
            <a:ext cx="914400" cy="86868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8" name="Edge B-C"/>
          <p:cNvSpPr/>
          <p:nvPr/>
        </p:nvSpPr>
        <p:spPr>
          <a:xfrm>
            <a:off x="1851660" y="2423160"/>
            <a:ext cx="0" cy="173736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9" name="Edge B-D"/>
          <p:cNvSpPr/>
          <p:nvPr/>
        </p:nvSpPr>
        <p:spPr>
          <a:xfrm>
            <a:off x="1851660" y="2423160"/>
            <a:ext cx="91440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0" name="Edge C-D"/>
          <p:cNvSpPr/>
          <p:nvPr/>
        </p:nvSpPr>
        <p:spPr>
          <a:xfrm flipV="1">
            <a:off x="1851660" y="2423160"/>
            <a:ext cx="914400" cy="173736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1" name="Edge C-E"/>
          <p:cNvSpPr/>
          <p:nvPr/>
        </p:nvSpPr>
        <p:spPr>
          <a:xfrm>
            <a:off x="1851660" y="4160520"/>
            <a:ext cx="91440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2" name="Edge D-E"/>
          <p:cNvSpPr/>
          <p:nvPr/>
        </p:nvSpPr>
        <p:spPr>
          <a:xfrm>
            <a:off x="2766060" y="2423160"/>
            <a:ext cx="0" cy="173736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3" name="Edge D-F"/>
          <p:cNvSpPr/>
          <p:nvPr/>
        </p:nvSpPr>
        <p:spPr>
          <a:xfrm>
            <a:off x="2766060" y="2423160"/>
            <a:ext cx="914400" cy="86868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4" name="Edge E-F"/>
          <p:cNvSpPr/>
          <p:nvPr/>
        </p:nvSpPr>
        <p:spPr>
          <a:xfrm flipV="1">
            <a:off x="2766060" y="3291840"/>
            <a:ext cx="914400" cy="86868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5" name="Weight A-B"/>
          <p:cNvSpPr txBox="1"/>
          <p:nvPr/>
        </p:nvSpPr>
        <p:spPr>
          <a:xfrm>
            <a:off x="1248156" y="275691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Weight A-C"/>
          <p:cNvSpPr txBox="1"/>
          <p:nvPr/>
        </p:nvSpPr>
        <p:spPr>
          <a:xfrm>
            <a:off x="1248156" y="362559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Weight B-C"/>
          <p:cNvSpPr txBox="1"/>
          <p:nvPr/>
        </p:nvSpPr>
        <p:spPr>
          <a:xfrm>
            <a:off x="1705356" y="319125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1</a:t>
            </a:r>
            <a:endParaRPr lang="en-US" sz="1000" dirty="0"/>
          </a:p>
        </p:txBody>
      </p:sp>
      <p:sp>
        <p:nvSpPr>
          <p:cNvPr id="18" name="Weight B-D"/>
          <p:cNvSpPr txBox="1"/>
          <p:nvPr/>
        </p:nvSpPr>
        <p:spPr>
          <a:xfrm>
            <a:off x="2162556" y="232257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Weight C-D"/>
          <p:cNvSpPr txBox="1"/>
          <p:nvPr/>
        </p:nvSpPr>
        <p:spPr>
          <a:xfrm>
            <a:off x="2162556" y="319125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8</a:t>
            </a:r>
            <a:endParaRPr lang="en-US" sz="1000" dirty="0"/>
          </a:p>
        </p:txBody>
      </p:sp>
      <p:sp>
        <p:nvSpPr>
          <p:cNvPr id="20" name="Weight C-E"/>
          <p:cNvSpPr txBox="1"/>
          <p:nvPr/>
        </p:nvSpPr>
        <p:spPr>
          <a:xfrm>
            <a:off x="2162556" y="405993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10</a:t>
            </a:r>
            <a:endParaRPr lang="en-US" sz="1000" dirty="0"/>
          </a:p>
        </p:txBody>
      </p:sp>
      <p:sp>
        <p:nvSpPr>
          <p:cNvPr id="21" name="Weight D-E"/>
          <p:cNvSpPr txBox="1"/>
          <p:nvPr/>
        </p:nvSpPr>
        <p:spPr>
          <a:xfrm>
            <a:off x="2619756" y="319125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2</a:t>
            </a:r>
            <a:endParaRPr lang="en-US" sz="1000" dirty="0"/>
          </a:p>
        </p:txBody>
      </p:sp>
      <p:sp>
        <p:nvSpPr>
          <p:cNvPr id="22" name="Weight D-F"/>
          <p:cNvSpPr txBox="1"/>
          <p:nvPr/>
        </p:nvSpPr>
        <p:spPr>
          <a:xfrm>
            <a:off x="3076956" y="275691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6</a:t>
            </a:r>
            <a:endParaRPr lang="en-US" sz="1000" dirty="0"/>
          </a:p>
        </p:txBody>
      </p:sp>
      <p:sp>
        <p:nvSpPr>
          <p:cNvPr id="23" name="Weight E-F"/>
          <p:cNvSpPr txBox="1"/>
          <p:nvPr/>
        </p:nvSpPr>
        <p:spPr>
          <a:xfrm>
            <a:off x="3076956" y="362559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Node A"/>
          <p:cNvSpPr txBox="1"/>
          <p:nvPr/>
        </p:nvSpPr>
        <p:spPr>
          <a:xfrm>
            <a:off x="781812" y="313639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</a:t>
            </a:r>
            <a:endParaRPr lang="en-US" sz="1100" dirty="0"/>
          </a:p>
        </p:txBody>
      </p:sp>
      <p:sp>
        <p:nvSpPr>
          <p:cNvPr id="25" name="Node B"/>
          <p:cNvSpPr txBox="1"/>
          <p:nvPr/>
        </p:nvSpPr>
        <p:spPr>
          <a:xfrm>
            <a:off x="1696212" y="2267712"/>
            <a:ext cx="310896" cy="31089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B</a:t>
            </a:r>
            <a:endParaRPr lang="en-US" sz="1100" dirty="0"/>
          </a:p>
        </p:txBody>
      </p:sp>
      <p:sp>
        <p:nvSpPr>
          <p:cNvPr id="26" name="Node C"/>
          <p:cNvSpPr txBox="1"/>
          <p:nvPr/>
        </p:nvSpPr>
        <p:spPr>
          <a:xfrm>
            <a:off x="1696212" y="4005072"/>
            <a:ext cx="310896" cy="31089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C</a:t>
            </a:r>
            <a:endParaRPr lang="en-US" sz="1100" dirty="0"/>
          </a:p>
        </p:txBody>
      </p:sp>
      <p:sp>
        <p:nvSpPr>
          <p:cNvPr id="27" name="Node D"/>
          <p:cNvSpPr txBox="1"/>
          <p:nvPr/>
        </p:nvSpPr>
        <p:spPr>
          <a:xfrm>
            <a:off x="2610612" y="2267712"/>
            <a:ext cx="310896" cy="31089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D</a:t>
            </a:r>
            <a:endParaRPr lang="en-US" sz="1100" dirty="0"/>
          </a:p>
        </p:txBody>
      </p:sp>
      <p:sp>
        <p:nvSpPr>
          <p:cNvPr id="28" name="Node E"/>
          <p:cNvSpPr txBox="1"/>
          <p:nvPr/>
        </p:nvSpPr>
        <p:spPr>
          <a:xfrm>
            <a:off x="2610612" y="4005072"/>
            <a:ext cx="310896" cy="31089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E</a:t>
            </a:r>
            <a:endParaRPr lang="en-US" sz="1100" dirty="0"/>
          </a:p>
        </p:txBody>
      </p:sp>
      <p:sp>
        <p:nvSpPr>
          <p:cNvPr id="29" name="Node F"/>
          <p:cNvSpPr txBox="1"/>
          <p:nvPr/>
        </p:nvSpPr>
        <p:spPr>
          <a:xfrm>
            <a:off x="3525012" y="3136392"/>
            <a:ext cx="310896" cy="31089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F</a:t>
            </a:r>
            <a:endParaRPr lang="en-US" sz="1100" dirty="0"/>
          </a:p>
        </p:txBody>
      </p:sp>
      <p:sp>
        <p:nvSpPr>
          <p:cNvPr id="30" name="Step 1 caption"/>
          <p:cNvSpPr txBox="1"/>
          <p:nvPr/>
        </p:nvSpPr>
        <p:spPr>
          <a:xfrm>
            <a:off x="731520" y="45720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Tree S = {A}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Crossing: A–B 4, A–C 2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Cheapest: A–C (2), so C joins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Total so far: 0 → 2</a:t>
            </a:r>
            <a:endParaRPr lang="en-US" sz="1400" dirty="0"/>
          </a:p>
        </p:txBody>
      </p:sp>
      <p:sp>
        <p:nvSpPr>
          <p:cNvPr id="31" name="Step 2 card"/>
          <p:cNvSpPr/>
          <p:nvPr/>
        </p:nvSpPr>
        <p:spPr>
          <a:xfrm>
            <a:off x="4343400" y="1463040"/>
            <a:ext cx="3520440" cy="46634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Step 2 header"/>
          <p:cNvSpPr txBox="1"/>
          <p:nvPr/>
        </p:nvSpPr>
        <p:spPr>
          <a:xfrm>
            <a:off x="4526280" y="157276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Step 2: add C–B (1)</a:t>
            </a:r>
            <a:endParaRPr lang="en-US" sz="1800" dirty="0"/>
          </a:p>
        </p:txBody>
      </p:sp>
      <p:sp>
        <p:nvSpPr>
          <p:cNvPr id="33" name="Edge A-B"/>
          <p:cNvSpPr/>
          <p:nvPr/>
        </p:nvSpPr>
        <p:spPr>
          <a:xfrm flipV="1">
            <a:off x="4732020" y="2423160"/>
            <a:ext cx="914400" cy="86868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34" name="Edge A-C"/>
          <p:cNvSpPr/>
          <p:nvPr/>
        </p:nvSpPr>
        <p:spPr>
          <a:xfrm>
            <a:off x="4732020" y="3291840"/>
            <a:ext cx="914400" cy="86868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35" name="Edge B-C"/>
          <p:cNvSpPr/>
          <p:nvPr/>
        </p:nvSpPr>
        <p:spPr>
          <a:xfrm>
            <a:off x="5646420" y="2423160"/>
            <a:ext cx="0" cy="173736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36" name="Edge B-D"/>
          <p:cNvSpPr/>
          <p:nvPr/>
        </p:nvSpPr>
        <p:spPr>
          <a:xfrm>
            <a:off x="5646420" y="2423160"/>
            <a:ext cx="91440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37" name="Edge C-D"/>
          <p:cNvSpPr/>
          <p:nvPr/>
        </p:nvSpPr>
        <p:spPr>
          <a:xfrm flipV="1">
            <a:off x="5646420" y="2423160"/>
            <a:ext cx="914400" cy="173736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38" name="Edge C-E"/>
          <p:cNvSpPr/>
          <p:nvPr/>
        </p:nvSpPr>
        <p:spPr>
          <a:xfrm>
            <a:off x="5646420" y="4160520"/>
            <a:ext cx="91440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39" name="Edge D-E"/>
          <p:cNvSpPr/>
          <p:nvPr/>
        </p:nvSpPr>
        <p:spPr>
          <a:xfrm>
            <a:off x="6560820" y="2423160"/>
            <a:ext cx="0" cy="173736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40" name="Edge D-F"/>
          <p:cNvSpPr/>
          <p:nvPr/>
        </p:nvSpPr>
        <p:spPr>
          <a:xfrm>
            <a:off x="6560820" y="2423160"/>
            <a:ext cx="914400" cy="86868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41" name="Edge E-F"/>
          <p:cNvSpPr/>
          <p:nvPr/>
        </p:nvSpPr>
        <p:spPr>
          <a:xfrm flipV="1">
            <a:off x="6560820" y="3291840"/>
            <a:ext cx="914400" cy="86868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42" name="Weight A-B"/>
          <p:cNvSpPr txBox="1"/>
          <p:nvPr/>
        </p:nvSpPr>
        <p:spPr>
          <a:xfrm>
            <a:off x="5042916" y="275691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43" name="Weight A-C"/>
          <p:cNvSpPr txBox="1"/>
          <p:nvPr/>
        </p:nvSpPr>
        <p:spPr>
          <a:xfrm>
            <a:off x="5042916" y="362559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2</a:t>
            </a:r>
            <a:endParaRPr lang="en-US" sz="1000" dirty="0"/>
          </a:p>
        </p:txBody>
      </p:sp>
      <p:sp>
        <p:nvSpPr>
          <p:cNvPr id="44" name="Weight B-C"/>
          <p:cNvSpPr txBox="1"/>
          <p:nvPr/>
        </p:nvSpPr>
        <p:spPr>
          <a:xfrm>
            <a:off x="5500116" y="319125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1</a:t>
            </a:r>
            <a:endParaRPr lang="en-US" sz="1000" dirty="0"/>
          </a:p>
        </p:txBody>
      </p:sp>
      <p:sp>
        <p:nvSpPr>
          <p:cNvPr id="45" name="Weight B-D"/>
          <p:cNvSpPr txBox="1"/>
          <p:nvPr/>
        </p:nvSpPr>
        <p:spPr>
          <a:xfrm>
            <a:off x="5957316" y="232257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5</a:t>
            </a:r>
            <a:endParaRPr lang="en-US" sz="1000" dirty="0"/>
          </a:p>
        </p:txBody>
      </p:sp>
      <p:sp>
        <p:nvSpPr>
          <p:cNvPr id="46" name="Weight C-D"/>
          <p:cNvSpPr txBox="1"/>
          <p:nvPr/>
        </p:nvSpPr>
        <p:spPr>
          <a:xfrm>
            <a:off x="5957316" y="319125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8</a:t>
            </a:r>
            <a:endParaRPr lang="en-US" sz="1000" dirty="0"/>
          </a:p>
        </p:txBody>
      </p:sp>
      <p:sp>
        <p:nvSpPr>
          <p:cNvPr id="47" name="Weight C-E"/>
          <p:cNvSpPr txBox="1"/>
          <p:nvPr/>
        </p:nvSpPr>
        <p:spPr>
          <a:xfrm>
            <a:off x="5957316" y="405993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10</a:t>
            </a:r>
            <a:endParaRPr lang="en-US" sz="1000" dirty="0"/>
          </a:p>
        </p:txBody>
      </p:sp>
      <p:sp>
        <p:nvSpPr>
          <p:cNvPr id="48" name="Weight D-E"/>
          <p:cNvSpPr txBox="1"/>
          <p:nvPr/>
        </p:nvSpPr>
        <p:spPr>
          <a:xfrm>
            <a:off x="6414516" y="319125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2</a:t>
            </a:r>
            <a:endParaRPr lang="en-US" sz="1000" dirty="0"/>
          </a:p>
        </p:txBody>
      </p:sp>
      <p:sp>
        <p:nvSpPr>
          <p:cNvPr id="49" name="Weight D-F"/>
          <p:cNvSpPr txBox="1"/>
          <p:nvPr/>
        </p:nvSpPr>
        <p:spPr>
          <a:xfrm>
            <a:off x="6871716" y="275691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6</a:t>
            </a:r>
            <a:endParaRPr lang="en-US" sz="1000" dirty="0"/>
          </a:p>
        </p:txBody>
      </p:sp>
      <p:sp>
        <p:nvSpPr>
          <p:cNvPr id="50" name="Weight E-F"/>
          <p:cNvSpPr txBox="1"/>
          <p:nvPr/>
        </p:nvSpPr>
        <p:spPr>
          <a:xfrm>
            <a:off x="6871716" y="362559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3</a:t>
            </a:r>
            <a:endParaRPr lang="en-US" sz="1000" dirty="0"/>
          </a:p>
        </p:txBody>
      </p:sp>
      <p:sp>
        <p:nvSpPr>
          <p:cNvPr id="51" name="Node A"/>
          <p:cNvSpPr txBox="1"/>
          <p:nvPr/>
        </p:nvSpPr>
        <p:spPr>
          <a:xfrm>
            <a:off x="4576572" y="313639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</a:t>
            </a:r>
            <a:endParaRPr lang="en-US" sz="1100" dirty="0"/>
          </a:p>
        </p:txBody>
      </p:sp>
      <p:sp>
        <p:nvSpPr>
          <p:cNvPr id="52" name="Node B"/>
          <p:cNvSpPr txBox="1"/>
          <p:nvPr/>
        </p:nvSpPr>
        <p:spPr>
          <a:xfrm>
            <a:off x="5490972" y="2267712"/>
            <a:ext cx="310896" cy="31089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B</a:t>
            </a:r>
            <a:endParaRPr lang="en-US" sz="1100" dirty="0"/>
          </a:p>
        </p:txBody>
      </p:sp>
      <p:sp>
        <p:nvSpPr>
          <p:cNvPr id="53" name="Node C"/>
          <p:cNvSpPr txBox="1"/>
          <p:nvPr/>
        </p:nvSpPr>
        <p:spPr>
          <a:xfrm>
            <a:off x="5490972" y="400507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</a:t>
            </a:r>
            <a:endParaRPr lang="en-US" sz="1100" dirty="0"/>
          </a:p>
        </p:txBody>
      </p:sp>
      <p:sp>
        <p:nvSpPr>
          <p:cNvPr id="54" name="Node D"/>
          <p:cNvSpPr txBox="1"/>
          <p:nvPr/>
        </p:nvSpPr>
        <p:spPr>
          <a:xfrm>
            <a:off x="6405372" y="2267712"/>
            <a:ext cx="310896" cy="31089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D</a:t>
            </a:r>
            <a:endParaRPr lang="en-US" sz="1100" dirty="0"/>
          </a:p>
        </p:txBody>
      </p:sp>
      <p:sp>
        <p:nvSpPr>
          <p:cNvPr id="55" name="Node E"/>
          <p:cNvSpPr txBox="1"/>
          <p:nvPr/>
        </p:nvSpPr>
        <p:spPr>
          <a:xfrm>
            <a:off x="6405372" y="4005072"/>
            <a:ext cx="310896" cy="31089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E</a:t>
            </a:r>
            <a:endParaRPr lang="en-US" sz="1100" dirty="0"/>
          </a:p>
        </p:txBody>
      </p:sp>
      <p:sp>
        <p:nvSpPr>
          <p:cNvPr id="56" name="Node F"/>
          <p:cNvSpPr txBox="1"/>
          <p:nvPr/>
        </p:nvSpPr>
        <p:spPr>
          <a:xfrm>
            <a:off x="7319772" y="3136392"/>
            <a:ext cx="310896" cy="31089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F</a:t>
            </a:r>
            <a:endParaRPr lang="en-US" sz="1100" dirty="0"/>
          </a:p>
        </p:txBody>
      </p:sp>
      <p:sp>
        <p:nvSpPr>
          <p:cNvPr id="57" name="Step 2 caption"/>
          <p:cNvSpPr txBox="1"/>
          <p:nvPr/>
        </p:nvSpPr>
        <p:spPr>
          <a:xfrm>
            <a:off x="4526280" y="45720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Tree S = {A, C}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Crossing: A–B 4, C–B 1, C–D 8, C–E 10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Cheapest: C–B (1), so B joins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Total so far: 2 → 3</a:t>
            </a:r>
            <a:endParaRPr lang="en-US" sz="1400" dirty="0"/>
          </a:p>
        </p:txBody>
      </p:sp>
      <p:sp>
        <p:nvSpPr>
          <p:cNvPr id="58" name="Step 3 card"/>
          <p:cNvSpPr/>
          <p:nvPr/>
        </p:nvSpPr>
        <p:spPr>
          <a:xfrm>
            <a:off x="8138160" y="1463040"/>
            <a:ext cx="3520440" cy="46634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9" name="Step 3 header"/>
          <p:cNvSpPr txBox="1"/>
          <p:nvPr/>
        </p:nvSpPr>
        <p:spPr>
          <a:xfrm>
            <a:off x="8321040" y="157276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Step 3: add B–D (5)</a:t>
            </a:r>
            <a:endParaRPr lang="en-US" sz="1800" dirty="0"/>
          </a:p>
        </p:txBody>
      </p:sp>
      <p:sp>
        <p:nvSpPr>
          <p:cNvPr id="60" name="Edge A-B"/>
          <p:cNvSpPr/>
          <p:nvPr/>
        </p:nvSpPr>
        <p:spPr>
          <a:xfrm flipV="1">
            <a:off x="8526780" y="2423160"/>
            <a:ext cx="914400" cy="86868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ysDash"/>
          </a:ln>
        </p:spPr>
      </p:sp>
      <p:sp>
        <p:nvSpPr>
          <p:cNvPr id="61" name="Edge A-C"/>
          <p:cNvSpPr/>
          <p:nvPr/>
        </p:nvSpPr>
        <p:spPr>
          <a:xfrm>
            <a:off x="8526780" y="3291840"/>
            <a:ext cx="914400" cy="86868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62" name="Edge B-C"/>
          <p:cNvSpPr/>
          <p:nvPr/>
        </p:nvSpPr>
        <p:spPr>
          <a:xfrm>
            <a:off x="9441180" y="2423160"/>
            <a:ext cx="0" cy="173736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63" name="Edge B-D"/>
          <p:cNvSpPr/>
          <p:nvPr/>
        </p:nvSpPr>
        <p:spPr>
          <a:xfrm>
            <a:off x="9441180" y="2423160"/>
            <a:ext cx="91440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64" name="Edge C-D"/>
          <p:cNvSpPr/>
          <p:nvPr/>
        </p:nvSpPr>
        <p:spPr>
          <a:xfrm flipV="1">
            <a:off x="9441180" y="2423160"/>
            <a:ext cx="914400" cy="173736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65" name="Edge C-E"/>
          <p:cNvSpPr/>
          <p:nvPr/>
        </p:nvSpPr>
        <p:spPr>
          <a:xfrm>
            <a:off x="9441180" y="4160520"/>
            <a:ext cx="91440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66" name="Edge D-E"/>
          <p:cNvSpPr/>
          <p:nvPr/>
        </p:nvSpPr>
        <p:spPr>
          <a:xfrm>
            <a:off x="10355580" y="2423160"/>
            <a:ext cx="0" cy="173736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67" name="Edge D-F"/>
          <p:cNvSpPr/>
          <p:nvPr/>
        </p:nvSpPr>
        <p:spPr>
          <a:xfrm>
            <a:off x="10355580" y="2423160"/>
            <a:ext cx="914400" cy="86868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68" name="Edge E-F"/>
          <p:cNvSpPr/>
          <p:nvPr/>
        </p:nvSpPr>
        <p:spPr>
          <a:xfrm flipV="1">
            <a:off x="10355580" y="3291840"/>
            <a:ext cx="914400" cy="86868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69" name="Weight A-B"/>
          <p:cNvSpPr txBox="1"/>
          <p:nvPr/>
        </p:nvSpPr>
        <p:spPr>
          <a:xfrm>
            <a:off x="8837676" y="275691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70" name="Weight A-C"/>
          <p:cNvSpPr txBox="1"/>
          <p:nvPr/>
        </p:nvSpPr>
        <p:spPr>
          <a:xfrm>
            <a:off x="8837676" y="362559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2</a:t>
            </a:r>
            <a:endParaRPr lang="en-US" sz="1000" dirty="0"/>
          </a:p>
        </p:txBody>
      </p:sp>
      <p:sp>
        <p:nvSpPr>
          <p:cNvPr id="71" name="Weight B-C"/>
          <p:cNvSpPr txBox="1"/>
          <p:nvPr/>
        </p:nvSpPr>
        <p:spPr>
          <a:xfrm>
            <a:off x="9294876" y="319125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1</a:t>
            </a:r>
            <a:endParaRPr lang="en-US" sz="1000" dirty="0"/>
          </a:p>
        </p:txBody>
      </p:sp>
      <p:sp>
        <p:nvSpPr>
          <p:cNvPr id="72" name="Weight B-D"/>
          <p:cNvSpPr txBox="1"/>
          <p:nvPr/>
        </p:nvSpPr>
        <p:spPr>
          <a:xfrm>
            <a:off x="9752076" y="232257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5</a:t>
            </a:r>
            <a:endParaRPr lang="en-US" sz="1000" dirty="0"/>
          </a:p>
        </p:txBody>
      </p:sp>
      <p:sp>
        <p:nvSpPr>
          <p:cNvPr id="73" name="Weight C-D"/>
          <p:cNvSpPr txBox="1"/>
          <p:nvPr/>
        </p:nvSpPr>
        <p:spPr>
          <a:xfrm>
            <a:off x="9752076" y="319125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8</a:t>
            </a:r>
            <a:endParaRPr lang="en-US" sz="1000" dirty="0"/>
          </a:p>
        </p:txBody>
      </p:sp>
      <p:sp>
        <p:nvSpPr>
          <p:cNvPr id="74" name="Weight C-E"/>
          <p:cNvSpPr txBox="1"/>
          <p:nvPr/>
        </p:nvSpPr>
        <p:spPr>
          <a:xfrm>
            <a:off x="9752076" y="405993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10</a:t>
            </a:r>
            <a:endParaRPr lang="en-US" sz="1000" dirty="0"/>
          </a:p>
        </p:txBody>
      </p:sp>
      <p:sp>
        <p:nvSpPr>
          <p:cNvPr id="75" name="Weight D-E"/>
          <p:cNvSpPr txBox="1"/>
          <p:nvPr/>
        </p:nvSpPr>
        <p:spPr>
          <a:xfrm>
            <a:off x="10209276" y="319125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2</a:t>
            </a:r>
            <a:endParaRPr lang="en-US" sz="1000" dirty="0"/>
          </a:p>
        </p:txBody>
      </p:sp>
      <p:sp>
        <p:nvSpPr>
          <p:cNvPr id="76" name="Weight D-F"/>
          <p:cNvSpPr txBox="1"/>
          <p:nvPr/>
        </p:nvSpPr>
        <p:spPr>
          <a:xfrm>
            <a:off x="10666476" y="275691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6</a:t>
            </a:r>
            <a:endParaRPr lang="en-US" sz="1000" dirty="0"/>
          </a:p>
        </p:txBody>
      </p:sp>
      <p:sp>
        <p:nvSpPr>
          <p:cNvPr id="77" name="Weight E-F"/>
          <p:cNvSpPr txBox="1"/>
          <p:nvPr/>
        </p:nvSpPr>
        <p:spPr>
          <a:xfrm>
            <a:off x="10666476" y="362559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3</a:t>
            </a:r>
            <a:endParaRPr lang="en-US" sz="1000" dirty="0"/>
          </a:p>
        </p:txBody>
      </p:sp>
      <p:sp>
        <p:nvSpPr>
          <p:cNvPr id="78" name="Node A"/>
          <p:cNvSpPr txBox="1"/>
          <p:nvPr/>
        </p:nvSpPr>
        <p:spPr>
          <a:xfrm>
            <a:off x="8371332" y="313639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</a:t>
            </a:r>
            <a:endParaRPr lang="en-US" sz="1100" dirty="0"/>
          </a:p>
        </p:txBody>
      </p:sp>
      <p:sp>
        <p:nvSpPr>
          <p:cNvPr id="79" name="Node B"/>
          <p:cNvSpPr txBox="1"/>
          <p:nvPr/>
        </p:nvSpPr>
        <p:spPr>
          <a:xfrm>
            <a:off x="9285732" y="226771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</a:t>
            </a:r>
            <a:endParaRPr lang="en-US" sz="1100" dirty="0"/>
          </a:p>
        </p:txBody>
      </p:sp>
      <p:sp>
        <p:nvSpPr>
          <p:cNvPr id="80" name="Node C"/>
          <p:cNvSpPr txBox="1"/>
          <p:nvPr/>
        </p:nvSpPr>
        <p:spPr>
          <a:xfrm>
            <a:off x="9285732" y="400507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</a:t>
            </a:r>
            <a:endParaRPr lang="en-US" sz="1100" dirty="0"/>
          </a:p>
        </p:txBody>
      </p:sp>
      <p:sp>
        <p:nvSpPr>
          <p:cNvPr id="81" name="Node D"/>
          <p:cNvSpPr txBox="1"/>
          <p:nvPr/>
        </p:nvSpPr>
        <p:spPr>
          <a:xfrm>
            <a:off x="10200132" y="2267712"/>
            <a:ext cx="310896" cy="31089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D</a:t>
            </a:r>
            <a:endParaRPr lang="en-US" sz="1100" dirty="0"/>
          </a:p>
        </p:txBody>
      </p:sp>
      <p:sp>
        <p:nvSpPr>
          <p:cNvPr id="82" name="Node E"/>
          <p:cNvSpPr txBox="1"/>
          <p:nvPr/>
        </p:nvSpPr>
        <p:spPr>
          <a:xfrm>
            <a:off x="10200132" y="4005072"/>
            <a:ext cx="310896" cy="31089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E</a:t>
            </a:r>
            <a:endParaRPr lang="en-US" sz="1100" dirty="0"/>
          </a:p>
        </p:txBody>
      </p:sp>
      <p:sp>
        <p:nvSpPr>
          <p:cNvPr id="83" name="Node F"/>
          <p:cNvSpPr txBox="1"/>
          <p:nvPr/>
        </p:nvSpPr>
        <p:spPr>
          <a:xfrm>
            <a:off x="11114532" y="3136392"/>
            <a:ext cx="310896" cy="31089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F</a:t>
            </a:r>
            <a:endParaRPr lang="en-US" sz="1100" dirty="0"/>
          </a:p>
        </p:txBody>
      </p:sp>
      <p:sp>
        <p:nvSpPr>
          <p:cNvPr id="84" name="Step 3 caption"/>
          <p:cNvSpPr txBox="1"/>
          <p:nvPr/>
        </p:nvSpPr>
        <p:spPr>
          <a:xfrm>
            <a:off x="8321040" y="45720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Tree S = {A, C, B}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Crossing: B–D 5, C–D 8, C–E 10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Cheapest: B–D (5), so D joins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Total so far: 3 → 8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Skipped (cycle): A–B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Worked example: steps 4 to 5 and result</a:t>
            </a:r>
            <a:endParaRPr lang="en-US" sz="3600" dirty="0"/>
          </a:p>
        </p:txBody>
      </p:sp>
      <p:sp>
        <p:nvSpPr>
          <p:cNvPr id="4" name="Step 4 card"/>
          <p:cNvSpPr/>
          <p:nvPr/>
        </p:nvSpPr>
        <p:spPr>
          <a:xfrm>
            <a:off x="548640" y="1463040"/>
            <a:ext cx="3520440" cy="46634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tep 4 header"/>
          <p:cNvSpPr txBox="1"/>
          <p:nvPr/>
        </p:nvSpPr>
        <p:spPr>
          <a:xfrm>
            <a:off x="731520" y="157276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Step 4: add D–E (2)</a:t>
            </a:r>
            <a:endParaRPr lang="en-US" sz="1800" dirty="0"/>
          </a:p>
        </p:txBody>
      </p:sp>
      <p:sp>
        <p:nvSpPr>
          <p:cNvPr id="6" name="Edge A-B"/>
          <p:cNvSpPr/>
          <p:nvPr/>
        </p:nvSpPr>
        <p:spPr>
          <a:xfrm flipV="1">
            <a:off x="937260" y="2423160"/>
            <a:ext cx="914400" cy="86868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ysDash"/>
          </a:ln>
        </p:spPr>
      </p:sp>
      <p:sp>
        <p:nvSpPr>
          <p:cNvPr id="7" name="Edge A-C"/>
          <p:cNvSpPr/>
          <p:nvPr/>
        </p:nvSpPr>
        <p:spPr>
          <a:xfrm>
            <a:off x="937260" y="3291840"/>
            <a:ext cx="914400" cy="86868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8" name="Edge B-C"/>
          <p:cNvSpPr/>
          <p:nvPr/>
        </p:nvSpPr>
        <p:spPr>
          <a:xfrm>
            <a:off x="1851660" y="2423160"/>
            <a:ext cx="0" cy="173736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9" name="Edge B-D"/>
          <p:cNvSpPr/>
          <p:nvPr/>
        </p:nvSpPr>
        <p:spPr>
          <a:xfrm>
            <a:off x="1851660" y="2423160"/>
            <a:ext cx="914400" cy="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10" name="Edge C-D"/>
          <p:cNvSpPr/>
          <p:nvPr/>
        </p:nvSpPr>
        <p:spPr>
          <a:xfrm flipV="1">
            <a:off x="1851660" y="2423160"/>
            <a:ext cx="914400" cy="173736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ysDash"/>
          </a:ln>
        </p:spPr>
      </p:sp>
      <p:sp>
        <p:nvSpPr>
          <p:cNvPr id="11" name="Edge C-E"/>
          <p:cNvSpPr/>
          <p:nvPr/>
        </p:nvSpPr>
        <p:spPr>
          <a:xfrm>
            <a:off x="1851660" y="4160520"/>
            <a:ext cx="91440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12" name="Edge D-E"/>
          <p:cNvSpPr/>
          <p:nvPr/>
        </p:nvSpPr>
        <p:spPr>
          <a:xfrm>
            <a:off x="2766060" y="2423160"/>
            <a:ext cx="0" cy="173736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3" name="Edge D-F"/>
          <p:cNvSpPr/>
          <p:nvPr/>
        </p:nvSpPr>
        <p:spPr>
          <a:xfrm>
            <a:off x="2766060" y="2423160"/>
            <a:ext cx="914400" cy="86868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14" name="Edge E-F"/>
          <p:cNvSpPr/>
          <p:nvPr/>
        </p:nvSpPr>
        <p:spPr>
          <a:xfrm flipV="1">
            <a:off x="2766060" y="3291840"/>
            <a:ext cx="914400" cy="86868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5" name="Weight A-B"/>
          <p:cNvSpPr txBox="1"/>
          <p:nvPr/>
        </p:nvSpPr>
        <p:spPr>
          <a:xfrm>
            <a:off x="1248156" y="275691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Weight A-C"/>
          <p:cNvSpPr txBox="1"/>
          <p:nvPr/>
        </p:nvSpPr>
        <p:spPr>
          <a:xfrm>
            <a:off x="1248156" y="362559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Weight B-C"/>
          <p:cNvSpPr txBox="1"/>
          <p:nvPr/>
        </p:nvSpPr>
        <p:spPr>
          <a:xfrm>
            <a:off x="1705356" y="319125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1</a:t>
            </a:r>
            <a:endParaRPr lang="en-US" sz="1000" dirty="0"/>
          </a:p>
        </p:txBody>
      </p:sp>
      <p:sp>
        <p:nvSpPr>
          <p:cNvPr id="18" name="Weight B-D"/>
          <p:cNvSpPr txBox="1"/>
          <p:nvPr/>
        </p:nvSpPr>
        <p:spPr>
          <a:xfrm>
            <a:off x="2162556" y="232257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Weight C-D"/>
          <p:cNvSpPr txBox="1"/>
          <p:nvPr/>
        </p:nvSpPr>
        <p:spPr>
          <a:xfrm>
            <a:off x="2162556" y="319125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8</a:t>
            </a:r>
            <a:endParaRPr lang="en-US" sz="1000" dirty="0"/>
          </a:p>
        </p:txBody>
      </p:sp>
      <p:sp>
        <p:nvSpPr>
          <p:cNvPr id="20" name="Weight C-E"/>
          <p:cNvSpPr txBox="1"/>
          <p:nvPr/>
        </p:nvSpPr>
        <p:spPr>
          <a:xfrm>
            <a:off x="2162556" y="405993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10</a:t>
            </a:r>
            <a:endParaRPr lang="en-US" sz="1000" dirty="0"/>
          </a:p>
        </p:txBody>
      </p:sp>
      <p:sp>
        <p:nvSpPr>
          <p:cNvPr id="21" name="Weight D-E"/>
          <p:cNvSpPr txBox="1"/>
          <p:nvPr/>
        </p:nvSpPr>
        <p:spPr>
          <a:xfrm>
            <a:off x="2619756" y="319125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2</a:t>
            </a:r>
            <a:endParaRPr lang="en-US" sz="1000" dirty="0"/>
          </a:p>
        </p:txBody>
      </p:sp>
      <p:sp>
        <p:nvSpPr>
          <p:cNvPr id="22" name="Weight D-F"/>
          <p:cNvSpPr txBox="1"/>
          <p:nvPr/>
        </p:nvSpPr>
        <p:spPr>
          <a:xfrm>
            <a:off x="3076956" y="275691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6</a:t>
            </a:r>
            <a:endParaRPr lang="en-US" sz="1000" dirty="0"/>
          </a:p>
        </p:txBody>
      </p:sp>
      <p:sp>
        <p:nvSpPr>
          <p:cNvPr id="23" name="Weight E-F"/>
          <p:cNvSpPr txBox="1"/>
          <p:nvPr/>
        </p:nvSpPr>
        <p:spPr>
          <a:xfrm>
            <a:off x="3076956" y="362559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Node A"/>
          <p:cNvSpPr txBox="1"/>
          <p:nvPr/>
        </p:nvSpPr>
        <p:spPr>
          <a:xfrm>
            <a:off x="781812" y="313639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</a:t>
            </a:r>
            <a:endParaRPr lang="en-US" sz="1100" dirty="0"/>
          </a:p>
        </p:txBody>
      </p:sp>
      <p:sp>
        <p:nvSpPr>
          <p:cNvPr id="25" name="Node B"/>
          <p:cNvSpPr txBox="1"/>
          <p:nvPr/>
        </p:nvSpPr>
        <p:spPr>
          <a:xfrm>
            <a:off x="1696212" y="226771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</a:t>
            </a:r>
            <a:endParaRPr lang="en-US" sz="1100" dirty="0"/>
          </a:p>
        </p:txBody>
      </p:sp>
      <p:sp>
        <p:nvSpPr>
          <p:cNvPr id="26" name="Node C"/>
          <p:cNvSpPr txBox="1"/>
          <p:nvPr/>
        </p:nvSpPr>
        <p:spPr>
          <a:xfrm>
            <a:off x="1696212" y="400507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</a:t>
            </a:r>
            <a:endParaRPr lang="en-US" sz="1100" dirty="0"/>
          </a:p>
        </p:txBody>
      </p:sp>
      <p:sp>
        <p:nvSpPr>
          <p:cNvPr id="27" name="Node D"/>
          <p:cNvSpPr txBox="1"/>
          <p:nvPr/>
        </p:nvSpPr>
        <p:spPr>
          <a:xfrm>
            <a:off x="2610612" y="226771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</a:t>
            </a:r>
            <a:endParaRPr lang="en-US" sz="1100" dirty="0"/>
          </a:p>
        </p:txBody>
      </p:sp>
      <p:sp>
        <p:nvSpPr>
          <p:cNvPr id="28" name="Node E"/>
          <p:cNvSpPr txBox="1"/>
          <p:nvPr/>
        </p:nvSpPr>
        <p:spPr>
          <a:xfrm>
            <a:off x="2610612" y="4005072"/>
            <a:ext cx="310896" cy="31089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E</a:t>
            </a:r>
            <a:endParaRPr lang="en-US" sz="1100" dirty="0"/>
          </a:p>
        </p:txBody>
      </p:sp>
      <p:sp>
        <p:nvSpPr>
          <p:cNvPr id="29" name="Node F"/>
          <p:cNvSpPr txBox="1"/>
          <p:nvPr/>
        </p:nvSpPr>
        <p:spPr>
          <a:xfrm>
            <a:off x="3525012" y="3136392"/>
            <a:ext cx="310896" cy="31089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F</a:t>
            </a:r>
            <a:endParaRPr lang="en-US" sz="1100" dirty="0"/>
          </a:p>
        </p:txBody>
      </p:sp>
      <p:sp>
        <p:nvSpPr>
          <p:cNvPr id="30" name="Step 4 caption"/>
          <p:cNvSpPr txBox="1"/>
          <p:nvPr/>
        </p:nvSpPr>
        <p:spPr>
          <a:xfrm>
            <a:off x="731520" y="45720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Tree S = {A, C, B, D}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Crossing: C–E 10, D–E 2, D–F 6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Cheapest: D–E (2), so E joins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Total so far: 8 → 10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Skipped (cycle): A–B, C–D</a:t>
            </a:r>
            <a:endParaRPr lang="en-US" sz="1400" dirty="0"/>
          </a:p>
        </p:txBody>
      </p:sp>
      <p:sp>
        <p:nvSpPr>
          <p:cNvPr id="31" name="Step 5 card"/>
          <p:cNvSpPr/>
          <p:nvPr/>
        </p:nvSpPr>
        <p:spPr>
          <a:xfrm>
            <a:off x="4343400" y="1463040"/>
            <a:ext cx="3520440" cy="46634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Step 5 header"/>
          <p:cNvSpPr txBox="1"/>
          <p:nvPr/>
        </p:nvSpPr>
        <p:spPr>
          <a:xfrm>
            <a:off x="4526280" y="157276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Step 5: add E–F (3)</a:t>
            </a:r>
            <a:endParaRPr lang="en-US" sz="1800" dirty="0"/>
          </a:p>
        </p:txBody>
      </p:sp>
      <p:sp>
        <p:nvSpPr>
          <p:cNvPr id="33" name="Edge A-B"/>
          <p:cNvSpPr/>
          <p:nvPr/>
        </p:nvSpPr>
        <p:spPr>
          <a:xfrm flipV="1">
            <a:off x="4732020" y="2423160"/>
            <a:ext cx="914400" cy="86868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ysDash"/>
          </a:ln>
        </p:spPr>
      </p:sp>
      <p:sp>
        <p:nvSpPr>
          <p:cNvPr id="34" name="Edge A-C"/>
          <p:cNvSpPr/>
          <p:nvPr/>
        </p:nvSpPr>
        <p:spPr>
          <a:xfrm>
            <a:off x="4732020" y="3291840"/>
            <a:ext cx="914400" cy="86868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35" name="Edge B-C"/>
          <p:cNvSpPr/>
          <p:nvPr/>
        </p:nvSpPr>
        <p:spPr>
          <a:xfrm>
            <a:off x="5646420" y="2423160"/>
            <a:ext cx="0" cy="173736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36" name="Edge B-D"/>
          <p:cNvSpPr/>
          <p:nvPr/>
        </p:nvSpPr>
        <p:spPr>
          <a:xfrm>
            <a:off x="5646420" y="2423160"/>
            <a:ext cx="914400" cy="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37" name="Edge C-D"/>
          <p:cNvSpPr/>
          <p:nvPr/>
        </p:nvSpPr>
        <p:spPr>
          <a:xfrm flipV="1">
            <a:off x="5646420" y="2423160"/>
            <a:ext cx="914400" cy="173736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ysDash"/>
          </a:ln>
        </p:spPr>
      </p:sp>
      <p:sp>
        <p:nvSpPr>
          <p:cNvPr id="38" name="Edge C-E"/>
          <p:cNvSpPr/>
          <p:nvPr/>
        </p:nvSpPr>
        <p:spPr>
          <a:xfrm>
            <a:off x="5646420" y="4160520"/>
            <a:ext cx="91440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ysDash"/>
          </a:ln>
        </p:spPr>
      </p:sp>
      <p:sp>
        <p:nvSpPr>
          <p:cNvPr id="39" name="Edge D-E"/>
          <p:cNvSpPr/>
          <p:nvPr/>
        </p:nvSpPr>
        <p:spPr>
          <a:xfrm>
            <a:off x="6560820" y="2423160"/>
            <a:ext cx="0" cy="173736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40" name="Edge D-F"/>
          <p:cNvSpPr/>
          <p:nvPr/>
        </p:nvSpPr>
        <p:spPr>
          <a:xfrm>
            <a:off x="6560820" y="2423160"/>
            <a:ext cx="914400" cy="86868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41" name="Edge E-F"/>
          <p:cNvSpPr/>
          <p:nvPr/>
        </p:nvSpPr>
        <p:spPr>
          <a:xfrm flipV="1">
            <a:off x="6560820" y="3291840"/>
            <a:ext cx="914400" cy="86868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42" name="Weight A-B"/>
          <p:cNvSpPr txBox="1"/>
          <p:nvPr/>
        </p:nvSpPr>
        <p:spPr>
          <a:xfrm>
            <a:off x="5042916" y="275691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43" name="Weight A-C"/>
          <p:cNvSpPr txBox="1"/>
          <p:nvPr/>
        </p:nvSpPr>
        <p:spPr>
          <a:xfrm>
            <a:off x="5042916" y="362559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2</a:t>
            </a:r>
            <a:endParaRPr lang="en-US" sz="1000" dirty="0"/>
          </a:p>
        </p:txBody>
      </p:sp>
      <p:sp>
        <p:nvSpPr>
          <p:cNvPr id="44" name="Weight B-C"/>
          <p:cNvSpPr txBox="1"/>
          <p:nvPr/>
        </p:nvSpPr>
        <p:spPr>
          <a:xfrm>
            <a:off x="5500116" y="319125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1</a:t>
            </a:r>
            <a:endParaRPr lang="en-US" sz="1000" dirty="0"/>
          </a:p>
        </p:txBody>
      </p:sp>
      <p:sp>
        <p:nvSpPr>
          <p:cNvPr id="45" name="Weight B-D"/>
          <p:cNvSpPr txBox="1"/>
          <p:nvPr/>
        </p:nvSpPr>
        <p:spPr>
          <a:xfrm>
            <a:off x="5957316" y="232257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5</a:t>
            </a:r>
            <a:endParaRPr lang="en-US" sz="1000" dirty="0"/>
          </a:p>
        </p:txBody>
      </p:sp>
      <p:sp>
        <p:nvSpPr>
          <p:cNvPr id="46" name="Weight C-D"/>
          <p:cNvSpPr txBox="1"/>
          <p:nvPr/>
        </p:nvSpPr>
        <p:spPr>
          <a:xfrm>
            <a:off x="5957316" y="319125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8</a:t>
            </a:r>
            <a:endParaRPr lang="en-US" sz="1000" dirty="0"/>
          </a:p>
        </p:txBody>
      </p:sp>
      <p:sp>
        <p:nvSpPr>
          <p:cNvPr id="47" name="Weight C-E"/>
          <p:cNvSpPr txBox="1"/>
          <p:nvPr/>
        </p:nvSpPr>
        <p:spPr>
          <a:xfrm>
            <a:off x="5957316" y="405993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10</a:t>
            </a:r>
            <a:endParaRPr lang="en-US" sz="1000" dirty="0"/>
          </a:p>
        </p:txBody>
      </p:sp>
      <p:sp>
        <p:nvSpPr>
          <p:cNvPr id="48" name="Weight D-E"/>
          <p:cNvSpPr txBox="1"/>
          <p:nvPr/>
        </p:nvSpPr>
        <p:spPr>
          <a:xfrm>
            <a:off x="6414516" y="319125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2</a:t>
            </a:r>
            <a:endParaRPr lang="en-US" sz="1000" dirty="0"/>
          </a:p>
        </p:txBody>
      </p:sp>
      <p:sp>
        <p:nvSpPr>
          <p:cNvPr id="49" name="Weight D-F"/>
          <p:cNvSpPr txBox="1"/>
          <p:nvPr/>
        </p:nvSpPr>
        <p:spPr>
          <a:xfrm>
            <a:off x="6871716" y="275691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6</a:t>
            </a:r>
            <a:endParaRPr lang="en-US" sz="1000" dirty="0"/>
          </a:p>
        </p:txBody>
      </p:sp>
      <p:sp>
        <p:nvSpPr>
          <p:cNvPr id="50" name="Weight E-F"/>
          <p:cNvSpPr txBox="1"/>
          <p:nvPr/>
        </p:nvSpPr>
        <p:spPr>
          <a:xfrm>
            <a:off x="6871716" y="362559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3</a:t>
            </a:r>
            <a:endParaRPr lang="en-US" sz="1000" dirty="0"/>
          </a:p>
        </p:txBody>
      </p:sp>
      <p:sp>
        <p:nvSpPr>
          <p:cNvPr id="51" name="Node A"/>
          <p:cNvSpPr txBox="1"/>
          <p:nvPr/>
        </p:nvSpPr>
        <p:spPr>
          <a:xfrm>
            <a:off x="4576572" y="313639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</a:t>
            </a:r>
            <a:endParaRPr lang="en-US" sz="1100" dirty="0"/>
          </a:p>
        </p:txBody>
      </p:sp>
      <p:sp>
        <p:nvSpPr>
          <p:cNvPr id="52" name="Node B"/>
          <p:cNvSpPr txBox="1"/>
          <p:nvPr/>
        </p:nvSpPr>
        <p:spPr>
          <a:xfrm>
            <a:off x="5490972" y="226771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</a:t>
            </a:r>
            <a:endParaRPr lang="en-US" sz="1100" dirty="0"/>
          </a:p>
        </p:txBody>
      </p:sp>
      <p:sp>
        <p:nvSpPr>
          <p:cNvPr id="53" name="Node C"/>
          <p:cNvSpPr txBox="1"/>
          <p:nvPr/>
        </p:nvSpPr>
        <p:spPr>
          <a:xfrm>
            <a:off x="5490972" y="400507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</a:t>
            </a:r>
            <a:endParaRPr lang="en-US" sz="1100" dirty="0"/>
          </a:p>
        </p:txBody>
      </p:sp>
      <p:sp>
        <p:nvSpPr>
          <p:cNvPr id="54" name="Node D"/>
          <p:cNvSpPr txBox="1"/>
          <p:nvPr/>
        </p:nvSpPr>
        <p:spPr>
          <a:xfrm>
            <a:off x="6405372" y="226771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</a:t>
            </a:r>
            <a:endParaRPr lang="en-US" sz="1100" dirty="0"/>
          </a:p>
        </p:txBody>
      </p:sp>
      <p:sp>
        <p:nvSpPr>
          <p:cNvPr id="55" name="Node E"/>
          <p:cNvSpPr txBox="1"/>
          <p:nvPr/>
        </p:nvSpPr>
        <p:spPr>
          <a:xfrm>
            <a:off x="6405372" y="400507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</a:t>
            </a:r>
            <a:endParaRPr lang="en-US" sz="1100" dirty="0"/>
          </a:p>
        </p:txBody>
      </p:sp>
      <p:sp>
        <p:nvSpPr>
          <p:cNvPr id="56" name="Node F"/>
          <p:cNvSpPr txBox="1"/>
          <p:nvPr/>
        </p:nvSpPr>
        <p:spPr>
          <a:xfrm>
            <a:off x="7319772" y="3136392"/>
            <a:ext cx="310896" cy="31089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F</a:t>
            </a:r>
            <a:endParaRPr lang="en-US" sz="1100" dirty="0"/>
          </a:p>
        </p:txBody>
      </p:sp>
      <p:sp>
        <p:nvSpPr>
          <p:cNvPr id="57" name="Step 5 caption"/>
          <p:cNvSpPr txBox="1"/>
          <p:nvPr/>
        </p:nvSpPr>
        <p:spPr>
          <a:xfrm>
            <a:off x="4526280" y="45720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Tree S = {A, C, B, D, E}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Crossing: D–F 6, E–F 3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Cheapest: E–F (3), so F joins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Total so far: 10 → 13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Skipped (cycle): A–B, C–D, C–E</a:t>
            </a:r>
            <a:endParaRPr lang="en-US" sz="1400" dirty="0"/>
          </a:p>
        </p:txBody>
      </p:sp>
      <p:sp>
        <p:nvSpPr>
          <p:cNvPr id="58" name="Result card"/>
          <p:cNvSpPr/>
          <p:nvPr/>
        </p:nvSpPr>
        <p:spPr>
          <a:xfrm>
            <a:off x="8138160" y="1463040"/>
            <a:ext cx="3520440" cy="46634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9" name="Result header"/>
          <p:cNvSpPr txBox="1"/>
          <p:nvPr/>
        </p:nvSpPr>
        <p:spPr>
          <a:xfrm>
            <a:off x="8321040" y="157276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Result: MST weight 13</a:t>
            </a:r>
            <a:endParaRPr lang="en-US" sz="1800" dirty="0"/>
          </a:p>
        </p:txBody>
      </p:sp>
      <p:sp>
        <p:nvSpPr>
          <p:cNvPr id="60" name="Edge A-B"/>
          <p:cNvSpPr/>
          <p:nvPr/>
        </p:nvSpPr>
        <p:spPr>
          <a:xfrm flipV="1">
            <a:off x="8526780" y="2423160"/>
            <a:ext cx="914400" cy="86868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ysDash"/>
          </a:ln>
        </p:spPr>
      </p:sp>
      <p:sp>
        <p:nvSpPr>
          <p:cNvPr id="61" name="Edge A-C"/>
          <p:cNvSpPr/>
          <p:nvPr/>
        </p:nvSpPr>
        <p:spPr>
          <a:xfrm>
            <a:off x="8526780" y="3291840"/>
            <a:ext cx="914400" cy="86868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62" name="Edge B-C"/>
          <p:cNvSpPr/>
          <p:nvPr/>
        </p:nvSpPr>
        <p:spPr>
          <a:xfrm>
            <a:off x="9441180" y="2423160"/>
            <a:ext cx="0" cy="173736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63" name="Edge B-D"/>
          <p:cNvSpPr/>
          <p:nvPr/>
        </p:nvSpPr>
        <p:spPr>
          <a:xfrm>
            <a:off x="9441180" y="2423160"/>
            <a:ext cx="914400" cy="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64" name="Edge C-D"/>
          <p:cNvSpPr/>
          <p:nvPr/>
        </p:nvSpPr>
        <p:spPr>
          <a:xfrm flipV="1">
            <a:off x="9441180" y="2423160"/>
            <a:ext cx="914400" cy="173736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ysDash"/>
          </a:ln>
        </p:spPr>
      </p:sp>
      <p:sp>
        <p:nvSpPr>
          <p:cNvPr id="65" name="Edge C-E"/>
          <p:cNvSpPr/>
          <p:nvPr/>
        </p:nvSpPr>
        <p:spPr>
          <a:xfrm>
            <a:off x="9441180" y="4160520"/>
            <a:ext cx="91440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ysDash"/>
          </a:ln>
        </p:spPr>
      </p:sp>
      <p:sp>
        <p:nvSpPr>
          <p:cNvPr id="66" name="Edge D-E"/>
          <p:cNvSpPr/>
          <p:nvPr/>
        </p:nvSpPr>
        <p:spPr>
          <a:xfrm>
            <a:off x="10355580" y="2423160"/>
            <a:ext cx="0" cy="173736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67" name="Edge D-F"/>
          <p:cNvSpPr/>
          <p:nvPr/>
        </p:nvSpPr>
        <p:spPr>
          <a:xfrm>
            <a:off x="10355580" y="2423160"/>
            <a:ext cx="914400" cy="86868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ysDash"/>
          </a:ln>
        </p:spPr>
      </p:sp>
      <p:sp>
        <p:nvSpPr>
          <p:cNvPr id="68" name="Edge E-F"/>
          <p:cNvSpPr/>
          <p:nvPr/>
        </p:nvSpPr>
        <p:spPr>
          <a:xfrm flipV="1">
            <a:off x="10355580" y="3291840"/>
            <a:ext cx="914400" cy="86868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69" name="Weight A-B"/>
          <p:cNvSpPr txBox="1"/>
          <p:nvPr/>
        </p:nvSpPr>
        <p:spPr>
          <a:xfrm>
            <a:off x="8837676" y="275691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70" name="Weight A-C"/>
          <p:cNvSpPr txBox="1"/>
          <p:nvPr/>
        </p:nvSpPr>
        <p:spPr>
          <a:xfrm>
            <a:off x="8837676" y="362559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2</a:t>
            </a:r>
            <a:endParaRPr lang="en-US" sz="1000" dirty="0"/>
          </a:p>
        </p:txBody>
      </p:sp>
      <p:sp>
        <p:nvSpPr>
          <p:cNvPr id="71" name="Weight B-C"/>
          <p:cNvSpPr txBox="1"/>
          <p:nvPr/>
        </p:nvSpPr>
        <p:spPr>
          <a:xfrm>
            <a:off x="9294876" y="319125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1</a:t>
            </a:r>
            <a:endParaRPr lang="en-US" sz="1000" dirty="0"/>
          </a:p>
        </p:txBody>
      </p:sp>
      <p:sp>
        <p:nvSpPr>
          <p:cNvPr id="72" name="Weight B-D"/>
          <p:cNvSpPr txBox="1"/>
          <p:nvPr/>
        </p:nvSpPr>
        <p:spPr>
          <a:xfrm>
            <a:off x="9752076" y="232257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5</a:t>
            </a:r>
            <a:endParaRPr lang="en-US" sz="1000" dirty="0"/>
          </a:p>
        </p:txBody>
      </p:sp>
      <p:sp>
        <p:nvSpPr>
          <p:cNvPr id="73" name="Weight C-D"/>
          <p:cNvSpPr txBox="1"/>
          <p:nvPr/>
        </p:nvSpPr>
        <p:spPr>
          <a:xfrm>
            <a:off x="9752076" y="319125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8</a:t>
            </a:r>
            <a:endParaRPr lang="en-US" sz="1000" dirty="0"/>
          </a:p>
        </p:txBody>
      </p:sp>
      <p:sp>
        <p:nvSpPr>
          <p:cNvPr id="74" name="Weight C-E"/>
          <p:cNvSpPr txBox="1"/>
          <p:nvPr/>
        </p:nvSpPr>
        <p:spPr>
          <a:xfrm>
            <a:off x="9752076" y="405993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10</a:t>
            </a:r>
            <a:endParaRPr lang="en-US" sz="1000" dirty="0"/>
          </a:p>
        </p:txBody>
      </p:sp>
      <p:sp>
        <p:nvSpPr>
          <p:cNvPr id="75" name="Weight D-E"/>
          <p:cNvSpPr txBox="1"/>
          <p:nvPr/>
        </p:nvSpPr>
        <p:spPr>
          <a:xfrm>
            <a:off x="10209276" y="319125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2</a:t>
            </a:r>
            <a:endParaRPr lang="en-US" sz="1000" dirty="0"/>
          </a:p>
        </p:txBody>
      </p:sp>
      <p:sp>
        <p:nvSpPr>
          <p:cNvPr id="76" name="Weight D-F"/>
          <p:cNvSpPr txBox="1"/>
          <p:nvPr/>
        </p:nvSpPr>
        <p:spPr>
          <a:xfrm>
            <a:off x="10666476" y="275691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6</a:t>
            </a:r>
            <a:endParaRPr lang="en-US" sz="1000" dirty="0"/>
          </a:p>
        </p:txBody>
      </p:sp>
      <p:sp>
        <p:nvSpPr>
          <p:cNvPr id="77" name="Weight E-F"/>
          <p:cNvSpPr txBox="1"/>
          <p:nvPr/>
        </p:nvSpPr>
        <p:spPr>
          <a:xfrm>
            <a:off x="10666476" y="3625596"/>
            <a:ext cx="292608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3</a:t>
            </a:r>
            <a:endParaRPr lang="en-US" sz="1000" dirty="0"/>
          </a:p>
        </p:txBody>
      </p:sp>
      <p:sp>
        <p:nvSpPr>
          <p:cNvPr id="78" name="Node A"/>
          <p:cNvSpPr txBox="1"/>
          <p:nvPr/>
        </p:nvSpPr>
        <p:spPr>
          <a:xfrm>
            <a:off x="8371332" y="313639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</a:t>
            </a:r>
            <a:endParaRPr lang="en-US" sz="1100" dirty="0"/>
          </a:p>
        </p:txBody>
      </p:sp>
      <p:sp>
        <p:nvSpPr>
          <p:cNvPr id="79" name="Node B"/>
          <p:cNvSpPr txBox="1"/>
          <p:nvPr/>
        </p:nvSpPr>
        <p:spPr>
          <a:xfrm>
            <a:off x="9285732" y="226771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</a:t>
            </a:r>
            <a:endParaRPr lang="en-US" sz="1100" dirty="0"/>
          </a:p>
        </p:txBody>
      </p:sp>
      <p:sp>
        <p:nvSpPr>
          <p:cNvPr id="80" name="Node C"/>
          <p:cNvSpPr txBox="1"/>
          <p:nvPr/>
        </p:nvSpPr>
        <p:spPr>
          <a:xfrm>
            <a:off x="9285732" y="400507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</a:t>
            </a:r>
            <a:endParaRPr lang="en-US" sz="1100" dirty="0"/>
          </a:p>
        </p:txBody>
      </p:sp>
      <p:sp>
        <p:nvSpPr>
          <p:cNvPr id="81" name="Node D"/>
          <p:cNvSpPr txBox="1"/>
          <p:nvPr/>
        </p:nvSpPr>
        <p:spPr>
          <a:xfrm>
            <a:off x="10200132" y="226771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</a:t>
            </a:r>
            <a:endParaRPr lang="en-US" sz="1100" dirty="0"/>
          </a:p>
        </p:txBody>
      </p:sp>
      <p:sp>
        <p:nvSpPr>
          <p:cNvPr id="82" name="Node E"/>
          <p:cNvSpPr txBox="1"/>
          <p:nvPr/>
        </p:nvSpPr>
        <p:spPr>
          <a:xfrm>
            <a:off x="10200132" y="400507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</a:t>
            </a:r>
            <a:endParaRPr lang="en-US" sz="1100" dirty="0"/>
          </a:p>
        </p:txBody>
      </p:sp>
      <p:sp>
        <p:nvSpPr>
          <p:cNvPr id="83" name="Node F"/>
          <p:cNvSpPr txBox="1"/>
          <p:nvPr/>
        </p:nvSpPr>
        <p:spPr>
          <a:xfrm>
            <a:off x="11114532" y="313639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</a:t>
            </a:r>
            <a:endParaRPr lang="en-US" sz="1100" dirty="0"/>
          </a:p>
        </p:txBody>
      </p:sp>
      <p:sp>
        <p:nvSpPr>
          <p:cNvPr id="84" name="Result caption"/>
          <p:cNvSpPr txBox="1"/>
          <p:nvPr/>
        </p:nvSpPr>
        <p:spPr>
          <a:xfrm>
            <a:off x="8321040" y="45720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5 edges connect all 6 vertices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Edges: A–C, C–B, B–D, D–E, E–F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2 + 1 + 5 + 2 + 3 = 13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Dotted red edges were never needed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Trace table</a:t>
            </a:r>
            <a:endParaRPr lang="en-US" sz="3600" dirty="0"/>
          </a:p>
        </p:txBody>
      </p:sp>
      <p:graphicFrame>
        <p:nvGraphicFramePr>
          <p:cNvPr id="7" name="Trac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514600"/>
                <a:gridCol w="4572000"/>
                <a:gridCol w="1828800"/>
                <a:gridCol w="1371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Tree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Crossing edges (weight)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Pick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{A}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A–B (4), A–C (2)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A–C (2)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{A, C}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A–B (4), C–B (1), C–D (8), C–E (10)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C–B (1)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{A, C, B}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B–D (5), C–D (8), C–E (10)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B–D (5)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{A, C, B, D}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C–E (10), D–E (2), D–F (6)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D–E (2)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{A, C, B, D, E}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D–F (6), E–F (3)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E–F (3)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5" name="Skipped note"/>
          <p:cNvSpPr txBox="1"/>
          <p:nvPr/>
        </p:nvSpPr>
        <p:spPr>
          <a:xfrm>
            <a:off x="548640" y="5349240"/>
            <a:ext cx="11109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Skipped because both ends were already in the tree (a cycle): A–B, C–D, C–E, D–F.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Pseudocode</a:t>
            </a:r>
            <a:endParaRPr lang="en-US" sz="3600" dirty="0"/>
          </a:p>
        </p:txBody>
      </p:sp>
      <p:sp>
        <p:nvSpPr>
          <p:cNvPr id="4" name="Code panel"/>
          <p:cNvSpPr/>
          <p:nvPr/>
        </p:nvSpPr>
        <p:spPr>
          <a:xfrm>
            <a:off x="548640" y="1463040"/>
            <a:ext cx="6949440" cy="452628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Pseudocode"/>
          <p:cNvSpPr txBox="1"/>
          <p:nvPr/>
        </p:nvSpPr>
        <p:spPr>
          <a:xfrm>
            <a:off x="822960" y="1691640"/>
            <a:ext cx="64922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Prim(G, s):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each vertex v:  key[v] = ∞,  parent[v] = NIL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key[s] = 0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all vertices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min-priority queue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Q is not empty: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 = EXTRACT-MIN(Q)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next vertex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each neighbor v of u: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v in Q and w(u,v) &lt; key[v]: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parent[v] = u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key[v] = w(u,v)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cheaper</a:t>
            </a:r>
            <a:endParaRPr lang="en-US" sz="1500" dirty="0"/>
          </a:p>
        </p:txBody>
      </p:sp>
      <p:sp>
        <p:nvSpPr>
          <p:cNvPr id="6" name="Note card 1"/>
          <p:cNvSpPr/>
          <p:nvPr/>
        </p:nvSpPr>
        <p:spPr>
          <a:xfrm>
            <a:off x="7772400" y="1463040"/>
            <a:ext cx="388620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Note text 1"/>
          <p:cNvSpPr txBox="1"/>
          <p:nvPr/>
        </p:nvSpPr>
        <p:spPr>
          <a:xfrm>
            <a:off x="8001000" y="155448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key[v]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Cheapest known edge weight linking v to the tree</a:t>
            </a:r>
            <a:endParaRPr lang="en-US" sz="1800" dirty="0"/>
          </a:p>
        </p:txBody>
      </p:sp>
      <p:sp>
        <p:nvSpPr>
          <p:cNvPr id="8" name="Note card 2"/>
          <p:cNvSpPr/>
          <p:nvPr/>
        </p:nvSpPr>
        <p:spPr>
          <a:xfrm>
            <a:off x="7772400" y="3063240"/>
            <a:ext cx="388620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Note text 2"/>
          <p:cNvSpPr txBox="1"/>
          <p:nvPr/>
        </p:nvSpPr>
        <p:spPr>
          <a:xfrm>
            <a:off x="8001000" y="315468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parent[v]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Tree edge that gave v its key. The MST is read from this array</a:t>
            </a:r>
            <a:endParaRPr lang="en-US" sz="1800" dirty="0"/>
          </a:p>
        </p:txBody>
      </p:sp>
      <p:sp>
        <p:nvSpPr>
          <p:cNvPr id="10" name="Note card 3"/>
          <p:cNvSpPr/>
          <p:nvPr/>
        </p:nvSpPr>
        <p:spPr>
          <a:xfrm>
            <a:off x="7772400" y="4663440"/>
            <a:ext cx="388620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Note text 3"/>
          <p:cNvSpPr txBox="1"/>
          <p:nvPr/>
        </p:nvSpPr>
        <p:spPr>
          <a:xfrm>
            <a:off x="8001000" y="475488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EXTRACT-MIN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Removes the vertex with the smallest key, the next to join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Time complexity</a:t>
            </a:r>
            <a:endParaRPr lang="en-US" sz="3600" dirty="0"/>
          </a:p>
        </p:txBody>
      </p:sp>
      <p:sp>
        <p:nvSpPr>
          <p:cNvPr id="4" name="Complexity card 1"/>
          <p:cNvSpPr/>
          <p:nvPr/>
        </p:nvSpPr>
        <p:spPr>
          <a:xfrm>
            <a:off x="548640" y="1508760"/>
            <a:ext cx="3520440" cy="25146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Complexity 1"/>
          <p:cNvSpPr txBox="1"/>
          <p:nvPr/>
        </p:nvSpPr>
        <p:spPr>
          <a:xfrm>
            <a:off x="777240" y="17373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O(V²)</a:t>
            </a:r>
            <a:endParaRPr lang="en-US" sz="3000" dirty="0"/>
          </a:p>
        </p:txBody>
      </p:sp>
      <p:sp>
        <p:nvSpPr>
          <p:cNvPr id="6" name="Complexity text 1"/>
          <p:cNvSpPr txBox="1"/>
          <p:nvPr/>
        </p:nvSpPr>
        <p:spPr>
          <a:xfrm>
            <a:off x="777240" y="26974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2"/>
                </a:solidFill>
              </a:rPr>
              <a:t>Adjacency matrix + array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Best for dense graphs</a:t>
            </a:r>
            <a:endParaRPr lang="en-US" sz="1800" dirty="0"/>
          </a:p>
        </p:txBody>
      </p:sp>
      <p:sp>
        <p:nvSpPr>
          <p:cNvPr id="7" name="Complexity card 2"/>
          <p:cNvSpPr/>
          <p:nvPr/>
        </p:nvSpPr>
        <p:spPr>
          <a:xfrm>
            <a:off x="4343400" y="1508760"/>
            <a:ext cx="3520440" cy="25146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Complexity 2"/>
          <p:cNvSpPr txBox="1"/>
          <p:nvPr/>
        </p:nvSpPr>
        <p:spPr>
          <a:xfrm>
            <a:off x="4572000" y="17373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O(E log V)</a:t>
            </a:r>
            <a:endParaRPr lang="en-US" sz="3000" dirty="0"/>
          </a:p>
        </p:txBody>
      </p:sp>
      <p:sp>
        <p:nvSpPr>
          <p:cNvPr id="9" name="Complexity text 2"/>
          <p:cNvSpPr txBox="1"/>
          <p:nvPr/>
        </p:nvSpPr>
        <p:spPr>
          <a:xfrm>
            <a:off x="4572000" y="26974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2"/>
                </a:solidFill>
              </a:rPr>
              <a:t>Adjacency list + binary heap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Best for sparse graphs</a:t>
            </a:r>
            <a:endParaRPr lang="en-US" sz="1800" dirty="0"/>
          </a:p>
        </p:txBody>
      </p:sp>
      <p:sp>
        <p:nvSpPr>
          <p:cNvPr id="10" name="Complexity card 3"/>
          <p:cNvSpPr/>
          <p:nvPr/>
        </p:nvSpPr>
        <p:spPr>
          <a:xfrm>
            <a:off x="8138160" y="1508760"/>
            <a:ext cx="3520440" cy="25146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Complexity 3"/>
          <p:cNvSpPr txBox="1"/>
          <p:nvPr/>
        </p:nvSpPr>
        <p:spPr>
          <a:xfrm>
            <a:off x="8366760" y="17373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O(E + V log V)</a:t>
            </a:r>
            <a:endParaRPr lang="en-US" sz="3000" dirty="0"/>
          </a:p>
        </p:txBody>
      </p:sp>
      <p:sp>
        <p:nvSpPr>
          <p:cNvPr id="12" name="Complexity text 3"/>
          <p:cNvSpPr txBox="1"/>
          <p:nvPr/>
        </p:nvSpPr>
        <p:spPr>
          <a:xfrm>
            <a:off x="8366760" y="26974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2"/>
                </a:solidFill>
              </a:rPr>
              <a:t>Adjacency list + Fibonacci heap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Best asymptotic bound</a:t>
            </a:r>
            <a:endParaRPr lang="en-US" sz="1800" dirty="0"/>
          </a:p>
        </p:txBody>
      </p:sp>
      <p:sp>
        <p:nvSpPr>
          <p:cNvPr id="13" name="Note panel"/>
          <p:cNvSpPr/>
          <p:nvPr/>
        </p:nvSpPr>
        <p:spPr>
          <a:xfrm>
            <a:off x="548640" y="4343400"/>
            <a:ext cx="11109960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Applicability note"/>
          <p:cNvSpPr txBox="1"/>
          <p:nvPr/>
        </p:nvSpPr>
        <p:spPr>
          <a:xfrm>
            <a:off x="868680" y="4480560"/>
            <a:ext cx="10469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Prim works on connected, undirected, weighted graphs. For a disconnected graph, run it once per component to get a minimum spanning forest.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Prim vs Kruskal</a:t>
            </a:r>
            <a:endParaRPr lang="en-US" sz="3600" dirty="0"/>
          </a:p>
        </p:txBody>
      </p:sp>
      <p:graphicFrame>
        <p:nvGraphicFramePr>
          <p:cNvPr id="10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4480560"/>
                <a:gridCol w="44805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Prim's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Kruskal's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Strategy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Grow one tree from a start vertex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Sort edges, merge components (a forest)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Picks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Cheapest edge leaving the tree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Cheapest edge joining two components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Data structure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Priority queue (or array) of vertices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Disjoint-set (union-find)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Time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O(E log V) with a heap, O(V²) with a matrix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O(E log E) = O(E log V)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Best for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Dense graphs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Sparse graphs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Takeaway 1"/>
          <p:cNvSpPr/>
          <p:nvPr/>
        </p:nvSpPr>
        <p:spPr>
          <a:xfrm>
            <a:off x="548640" y="1463040"/>
            <a:ext cx="1110996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Check 1 circle"/>
          <p:cNvSpPr/>
          <p:nvPr/>
        </p:nvSpPr>
        <p:spPr>
          <a:xfrm>
            <a:off x="777240" y="159105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heck 1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1744127"/>
            <a:ext cx="260787" cy="260787"/>
          </a:xfrm>
          <a:prstGeom prst="rect">
            <a:avLst/>
          </a:prstGeom>
        </p:spPr>
      </p:pic>
      <p:sp>
        <p:nvSpPr>
          <p:cNvPr id="7" name="Takeaway text 1"/>
          <p:cNvSpPr txBox="1"/>
          <p:nvPr/>
        </p:nvSpPr>
        <p:spPr>
          <a:xfrm>
            <a:off x="1600200" y="146304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2"/>
                </a:solidFill>
              </a:rPr>
              <a:t>Greedy: always add the cheapest edge leaving the tree</a:t>
            </a:r>
            <a:endParaRPr lang="en-US" sz="2200" dirty="0"/>
          </a:p>
        </p:txBody>
      </p:sp>
      <p:sp>
        <p:nvSpPr>
          <p:cNvPr id="8" name="Takeaway 2"/>
          <p:cNvSpPr/>
          <p:nvPr/>
        </p:nvSpPr>
        <p:spPr>
          <a:xfrm>
            <a:off x="548640" y="2487168"/>
            <a:ext cx="1110996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Check 2 circle"/>
          <p:cNvSpPr/>
          <p:nvPr/>
        </p:nvSpPr>
        <p:spPr>
          <a:xfrm>
            <a:off x="777240" y="2615184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Check 2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311" y="2768255"/>
            <a:ext cx="260787" cy="260787"/>
          </a:xfrm>
          <a:prstGeom prst="rect">
            <a:avLst/>
          </a:prstGeom>
        </p:spPr>
      </p:pic>
      <p:sp>
        <p:nvSpPr>
          <p:cNvPr id="11" name="Takeaway text 2"/>
          <p:cNvSpPr txBox="1"/>
          <p:nvPr/>
        </p:nvSpPr>
        <p:spPr>
          <a:xfrm>
            <a:off x="1600200" y="248716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2"/>
                </a:solidFill>
              </a:rPr>
              <a:t>Grows a single tree from a start vertex</a:t>
            </a:r>
            <a:endParaRPr lang="en-US" sz="2200" dirty="0"/>
          </a:p>
        </p:txBody>
      </p:sp>
      <p:sp>
        <p:nvSpPr>
          <p:cNvPr id="12" name="Takeaway 3"/>
          <p:cNvSpPr/>
          <p:nvPr/>
        </p:nvSpPr>
        <p:spPr>
          <a:xfrm>
            <a:off x="548640" y="3511296"/>
            <a:ext cx="1110996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Check 3 circle"/>
          <p:cNvSpPr/>
          <p:nvPr/>
        </p:nvSpPr>
        <p:spPr>
          <a:xfrm>
            <a:off x="777240" y="363931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Check 3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11" y="3792383"/>
            <a:ext cx="260787" cy="260787"/>
          </a:xfrm>
          <a:prstGeom prst="rect">
            <a:avLst/>
          </a:prstGeom>
        </p:spPr>
      </p:pic>
      <p:sp>
        <p:nvSpPr>
          <p:cNvPr id="15" name="Takeaway text 3"/>
          <p:cNvSpPr txBox="1"/>
          <p:nvPr/>
        </p:nvSpPr>
        <p:spPr>
          <a:xfrm>
            <a:off x="1600200" y="3511296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2"/>
                </a:solidFill>
              </a:rPr>
              <a:t>Cut property ⇒ the result is a minimum spanning tree</a:t>
            </a:r>
            <a:endParaRPr lang="en-US" sz="2200" dirty="0"/>
          </a:p>
        </p:txBody>
      </p:sp>
      <p:sp>
        <p:nvSpPr>
          <p:cNvPr id="16" name="Takeaway 4"/>
          <p:cNvSpPr/>
          <p:nvPr/>
        </p:nvSpPr>
        <p:spPr>
          <a:xfrm>
            <a:off x="548640" y="4535424"/>
            <a:ext cx="1110996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Check 4 circle"/>
          <p:cNvSpPr/>
          <p:nvPr/>
        </p:nvSpPr>
        <p:spPr>
          <a:xfrm>
            <a:off x="777240" y="46634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Check 4" descr="Check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311" y="4816511"/>
            <a:ext cx="260787" cy="260787"/>
          </a:xfrm>
          <a:prstGeom prst="rect">
            <a:avLst/>
          </a:prstGeom>
        </p:spPr>
      </p:pic>
      <p:sp>
        <p:nvSpPr>
          <p:cNvPr id="19" name="Takeaway text 4"/>
          <p:cNvSpPr txBox="1"/>
          <p:nvPr/>
        </p:nvSpPr>
        <p:spPr>
          <a:xfrm>
            <a:off x="1600200" y="4535424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Our example: 5 edges, total weight 13</a:t>
            </a:r>
            <a:endParaRPr lang="en-US" sz="2200" dirty="0"/>
          </a:p>
        </p:txBody>
      </p:sp>
      <p:sp>
        <p:nvSpPr>
          <p:cNvPr id="20" name="AI credit"/>
          <p:cNvSpPr txBox="1"/>
          <p:nvPr/>
        </p:nvSpPr>
        <p:spPr>
          <a:xfrm>
            <a:off x="548640" y="566928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Created with Claude, an AI assistant by Anthropic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m Night">
  <a:themeElements>
    <a:clrScheme name="Prim Night">
      <a:dk1>
        <a:srgbClr val="0B1220"/>
      </a:dk1>
      <a:lt1>
        <a:srgbClr val="FFFFFF"/>
      </a:lt1>
      <a:dk2>
        <a:srgbClr val="131C31"/>
      </a:dk2>
      <a:lt2>
        <a:srgbClr val="E6EDF7"/>
      </a:lt2>
      <a:accent1>
        <a:srgbClr val="34D399"/>
      </a:accent1>
      <a:accent2>
        <a:srgbClr val="FBBF24"/>
      </a:accent2>
      <a:accent3>
        <a:srgbClr val="60A5FA"/>
      </a:accent3>
      <a:accent4>
        <a:srgbClr val="F87171"/>
      </a:accent4>
      <a:accent5>
        <a:srgbClr val="8FA0BD"/>
      </a:accent5>
      <a:accent6>
        <a:srgbClr val="475569"/>
      </a:accent6>
      <a:hlink>
        <a:srgbClr val="60A5FA"/>
      </a:hlink>
      <a:folHlink>
        <a:srgbClr val="8FA0BD"/>
      </a:folHlink>
    </a:clrScheme>
    <a:fontScheme name="Prim N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Prim's Algorithm: Minimum Spanning Tree</dc:title>
  <dc:subject>PptxGenJS Presentation</dc:subject>
  <dc:creator>PptxGenJS</dc:creator>
  <cp:lastModifiedBy>PptxGenJS</cp:lastModifiedBy>
  <cp:revision>1</cp:revision>
  <dcterms:created xsi:type="dcterms:W3CDTF">2026-10-20T10:46:08Z</dcterms:created>
  <dcterms:modified xsi:type="dcterms:W3CDTF">2026-10-20T10:46:08Z</dcterms:modified>
</cp:coreProperties>
</file>